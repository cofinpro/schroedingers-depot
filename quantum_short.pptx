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weight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E6D6"/>
              </a:solidFill>
              <a:ln w="19050" cap="flat">
                <a:solidFill>
                  <a:srgbClr val="221D52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FF4FA3"/>
              </a:solidFill>
              <a:ln w="19050" cap="flat">
                <a:solidFill>
                  <a:srgbClr val="221D52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FFC24B"/>
              </a:solidFill>
              <a:ln w="19050" cap="flat">
                <a:solidFill>
                  <a:srgbClr val="221D52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9B8CFF"/>
              </a:solidFill>
              <a:ln w="19050" cap="flat">
                <a:solidFill>
                  <a:srgbClr val="221D52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JNJ</c:v>
                </c:pt>
                <c:pt idx="1">
                  <c:v>XOM</c:v>
                </c:pt>
                <c:pt idx="2">
                  <c:v>AAPL</c:v>
                </c:pt>
                <c:pt idx="3">
                  <c:v>GLD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40</c:v>
                </c:pt>
                <c:pt idx="1">
                  <c:v>25.4</c:v>
                </c:pt>
                <c:pt idx="2">
                  <c:v>24.5</c:v>
                </c:pt>
                <c:pt idx="3">
                  <c:v>10.1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I did in the katas uses these three ideas. Superposition: the H gate makes a 50/50 blend (1000 measurements gave 502 zeros, 498 ones). Interference is the real secret: gates like Z and S flip hidden signs so paths add or cancel. Entanglement: H then CX makes a Bell pair that only ever shows 00 or 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circuits and one real-world test. Grover finds a marked item faster than checking every box, but one round too many overshoots (33%). Noise is why real chips struggle. The repair code uses 3 qubits to protect 1. Teleportation needs both of Bob's fixes. The portfolio test is educational, not investment advice.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don't need to understand it all yet. Nobody fully does, but I can now build with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20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1.xml"/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E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SCHRÖDINGER'S DEPOT · 10 QUANTUM KATAS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3F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Quantum computing in three ideas</a:t>
            </a:r>
            <a:endParaRPr lang="en-US" sz="3800" dirty="0"/>
          </a:p>
        </p:txBody>
      </p:sp>
      <p:pic>
        <p:nvPicPr>
          <p:cNvPr id="4" name="Image 0" descr="/private/tmp/claude-501/-Users-sama-teyha-repos-coding-dojo-schroedingers-depot/08894b76-43ad-40b2-8d8d-4e13e55cf558/scratchpad/deck/img/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28600"/>
            <a:ext cx="2103120" cy="2103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2423160"/>
            <a:ext cx="3520440" cy="3566160"/>
          </a:xfrm>
          <a:prstGeom prst="roundRect">
            <a:avLst>
              <a:gd name="adj" fmla="val 3896"/>
            </a:avLst>
          </a:prstGeom>
          <a:solidFill>
            <a:srgbClr val="221D52"/>
          </a:solidFill>
          <a:ln w="12700">
            <a:solidFill>
              <a:srgbClr val="221D52"/>
            </a:solidFill>
            <a:prstDash val="solid"/>
          </a:ln>
        </p:spPr>
      </p:sp>
      <p:pic>
        <p:nvPicPr>
          <p:cNvPr id="6" name="Image 1" descr="/private/tmp/claude-501/-Users-sama-teyha-repos-coding-dojo-schroedingers-depot/08894b76-43ad-40b2-8d8d-4e13e55cf558/scratchpad/deck/img/coi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51760"/>
            <a:ext cx="3154680" cy="14197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22960" y="42062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EE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Superposition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822960" y="470916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qubit is a spinning coin: a blend of 0 and 1 until you look. Looking makes it land at random.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343400" y="2423160"/>
            <a:ext cx="3520440" cy="3566160"/>
          </a:xfrm>
          <a:prstGeom prst="roundRect">
            <a:avLst>
              <a:gd name="adj" fmla="val 3896"/>
            </a:avLst>
          </a:prstGeom>
          <a:solidFill>
            <a:srgbClr val="221D52"/>
          </a:solidFill>
          <a:ln w="12700">
            <a:solidFill>
              <a:srgbClr val="221D52"/>
            </a:solidFill>
            <a:prstDash val="solid"/>
          </a:ln>
        </p:spPr>
      </p:sp>
      <p:pic>
        <p:nvPicPr>
          <p:cNvPr id="10" name="Image 2" descr="/private/tmp/claude-501/-Users-sama-teyha-repos-coding-dojo-schroedingers-depot/08894b76-43ad-40b2-8d8d-4e13e55cf558/scratchpad/deck/img/wav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2651760"/>
            <a:ext cx="3154680" cy="1121863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617720" y="42062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C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Interference</a:t>
            </a:r>
            <a:endParaRPr lang="en-US" sz="2200" dirty="0"/>
          </a:p>
        </p:txBody>
      </p:sp>
      <p:sp>
        <p:nvSpPr>
          <p:cNvPr id="12" name="Text 7"/>
          <p:cNvSpPr txBox="1"/>
          <p:nvPr/>
        </p:nvSpPr>
        <p:spPr>
          <a:xfrm>
            <a:off x="4617720" y="470916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blend behaves like waves. Arrange hidden signs so wrong answers cancel and the right one grows.</a:t>
            </a: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8138160" y="2423160"/>
            <a:ext cx="3520440" cy="3566160"/>
          </a:xfrm>
          <a:prstGeom prst="roundRect">
            <a:avLst>
              <a:gd name="adj" fmla="val 3896"/>
            </a:avLst>
          </a:prstGeom>
          <a:solidFill>
            <a:srgbClr val="221D52"/>
          </a:solidFill>
          <a:ln w="12700">
            <a:solidFill>
              <a:srgbClr val="221D52"/>
            </a:solidFill>
            <a:prstDash val="solid"/>
          </a:ln>
        </p:spPr>
      </p:sp>
      <p:pic>
        <p:nvPicPr>
          <p:cNvPr id="14" name="Image 3" descr="/private/tmp/claude-501/-Users-sama-teyha-repos-coding-dojo-schroedingers-depot/08894b76-43ad-40b2-8d8d-4e13e55cf558/scratchpad/deck/img/entang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2651760"/>
            <a:ext cx="3154680" cy="126187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412480" y="42062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4F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Entanglement</a:t>
            </a:r>
            <a:endParaRPr lang="en-US" sz="2200" dirty="0"/>
          </a:p>
        </p:txBody>
      </p:sp>
      <p:sp>
        <p:nvSpPr>
          <p:cNvPr id="16" name="Text 10"/>
          <p:cNvSpPr txBox="1"/>
          <p:nvPr/>
        </p:nvSpPr>
        <p:spPr>
          <a:xfrm>
            <a:off x="8412480" y="470916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linked qubits always give matching answers, even though each is random on its own.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3F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built with them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834640" cy="2423160"/>
          </a:xfrm>
          <a:prstGeom prst="roundRect">
            <a:avLst>
              <a:gd name="adj" fmla="val 5660"/>
            </a:avLst>
          </a:prstGeom>
          <a:solidFill>
            <a:srgbClr val="221D52"/>
          </a:solidFill>
          <a:ln w="12700">
            <a:solidFill>
              <a:srgbClr val="221D52"/>
            </a:solidFill>
            <a:prstDash val="solid"/>
          </a:ln>
        </p:spPr>
      </p:sp>
      <p:pic>
        <p:nvPicPr>
          <p:cNvPr id="4" name="Image 0" descr="/private/tmp/claude-501/-Users-sama-teyha-repos-coding-dojo-schroedingers-depot/08894b76-43ad-40b2-8d8d-4e13e55cf558/scratchpad/deck/img/box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00200"/>
            <a:ext cx="2468880" cy="65836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77240" y="23774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C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94.5%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944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Grover search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326440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the hidden box out of 8 in just 2 rounds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611880" y="1463040"/>
            <a:ext cx="2834640" cy="2423160"/>
          </a:xfrm>
          <a:prstGeom prst="roundRect">
            <a:avLst>
              <a:gd name="adj" fmla="val 5660"/>
            </a:avLst>
          </a:prstGeom>
          <a:solidFill>
            <a:srgbClr val="221D52"/>
          </a:solidFill>
          <a:ln w="12700">
            <a:solidFill>
              <a:srgbClr val="221D52"/>
            </a:solidFill>
            <a:prstDash val="solid"/>
          </a:ln>
        </p:spPr>
      </p:sp>
      <p:pic>
        <p:nvPicPr>
          <p:cNvPr id="9" name="Image 1" descr="/private/tmp/claude-501/-Users-sama-teyha-repos-coding-dojo-schroedingers-depot/08894b76-43ad-40b2-8d8d-4e13e55cf558/scratchpad/deck/img/noi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3756" y="1600200"/>
            <a:ext cx="2250887" cy="7315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840480" y="23774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4F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66.8%</a:t>
            </a:r>
            <a:endParaRPr lang="en-US" sz="3000" dirty="0"/>
          </a:p>
        </p:txBody>
      </p:sp>
      <p:sp>
        <p:nvSpPr>
          <p:cNvPr id="11" name="Text 7"/>
          <p:cNvSpPr txBox="1"/>
          <p:nvPr/>
        </p:nvSpPr>
        <p:spPr>
          <a:xfrm>
            <a:off x="3840480" y="2944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Real-chip noise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3840480" y="326440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search on a copy of an IBM chip: 13× more gates, more errors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4069080"/>
            <a:ext cx="2834640" cy="2423160"/>
          </a:xfrm>
          <a:prstGeom prst="roundRect">
            <a:avLst>
              <a:gd name="adj" fmla="val 5660"/>
            </a:avLst>
          </a:prstGeom>
          <a:solidFill>
            <a:srgbClr val="221D52"/>
          </a:solidFill>
          <a:ln w="12700">
            <a:solidFill>
              <a:srgbClr val="221D52"/>
            </a:solidFill>
            <a:prstDash val="solid"/>
          </a:ln>
        </p:spPr>
      </p:sp>
      <p:pic>
        <p:nvPicPr>
          <p:cNvPr id="14" name="Image 2" descr="/private/tmp/claude-501/-Users-sama-teyha-repos-coding-dojo-schroedingers-depot/08894b76-43ad-40b2-8d8d-4e13e55cf558/scratchpad/deck/img/repai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327" y="4206240"/>
            <a:ext cx="1721267" cy="7315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77240" y="49834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E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/ 80</a:t>
            </a:r>
            <a:endParaRPr lang="en-US" sz="3000" dirty="0"/>
          </a:p>
        </p:txBody>
      </p:sp>
      <p:sp>
        <p:nvSpPr>
          <p:cNvPr id="16" name="Text 11"/>
          <p:cNvSpPr txBox="1"/>
          <p:nvPr/>
        </p:nvSpPr>
        <p:spPr>
          <a:xfrm>
            <a:off x="777240" y="55504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repair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777240" y="587044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qubit's blend survives a flip on any of 3 qubits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3611880" y="4069080"/>
            <a:ext cx="2834640" cy="2423160"/>
          </a:xfrm>
          <a:prstGeom prst="roundRect">
            <a:avLst>
              <a:gd name="adj" fmla="val 5660"/>
            </a:avLst>
          </a:prstGeom>
          <a:solidFill>
            <a:srgbClr val="221D52"/>
          </a:solidFill>
          <a:ln w="12700">
            <a:solidFill>
              <a:srgbClr val="221D52"/>
            </a:solidFill>
            <a:prstDash val="solid"/>
          </a:ln>
        </p:spPr>
      </p:sp>
      <p:pic>
        <p:nvPicPr>
          <p:cNvPr id="19" name="Image 3" descr="/private/tmp/claude-501/-Users-sama-teyha-repos-coding-dojo-schroedingers-depot/08894b76-43ad-40b2-8d8d-4e13e55cf558/scratchpad/deck/img/telepo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4206240"/>
            <a:ext cx="1828800" cy="73152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3840480" y="49834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B8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21" name="Text 15"/>
          <p:cNvSpPr txBox="1"/>
          <p:nvPr/>
        </p:nvSpPr>
        <p:spPr>
          <a:xfrm>
            <a:off x="3840480" y="55504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Teleportation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3840480" y="587044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qubit moved from Alice to Bob with an entangled pair + 2 bits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6766560" y="1463040"/>
            <a:ext cx="4892040" cy="5029200"/>
          </a:xfrm>
          <a:prstGeom prst="roundRect">
            <a:avLst>
              <a:gd name="adj" fmla="val 2804"/>
            </a:avLst>
          </a:prstGeom>
          <a:solidFill>
            <a:srgbClr val="221D52"/>
          </a:solidFill>
          <a:ln w="12700">
            <a:solidFill>
              <a:srgbClr val="221D52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7040880" y="16459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C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QAOA on 5 years of real stocks</a:t>
            </a:r>
            <a:endParaRPr lang="en-US" sz="20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6949440" y="2148840"/>
          <a:ext cx="22860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6" name="Text 19"/>
          <p:cNvSpPr txBox="1"/>
          <p:nvPr/>
        </p:nvSpPr>
        <p:spPr>
          <a:xfrm>
            <a:off x="9464040" y="251460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2E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JNJ 40%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XOM 25%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AAPL 25%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9B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GLD 10%</a:t>
            </a:r>
            <a:endParaRPr lang="en-US" sz="1700" dirty="0"/>
          </a:p>
        </p:txBody>
      </p:sp>
      <p:sp>
        <p:nvSpPr>
          <p:cNvPr id="27" name="Text 20"/>
          <p:cNvSpPr txBox="1"/>
          <p:nvPr/>
        </p:nvSpPr>
        <p:spPr>
          <a:xfrm>
            <a:off x="7040880" y="4572000"/>
            <a:ext cx="4389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quantum circuit picks which 4 of 8 assets to hold; a classical optimizer splits the money.</a:t>
            </a:r>
            <a:endParaRPr lang="en-US" sz="14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A9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found the best pick in 16 of 16 quarters, but simple equal weighting still had the best return for its risk.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ama-teyha-repos-coding-dojo-schroedingers-depot/08894b76-43ad-40b2-8d8d-4e13e55cf558/scratchpad/deck/img/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371600"/>
            <a:ext cx="3931920" cy="39319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73152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3F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take away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640080" y="1874520"/>
            <a:ext cx="502920" cy="502920"/>
          </a:xfrm>
          <a:prstGeom prst="ellipse">
            <a:avLst/>
          </a:prstGeom>
          <a:solidFill>
            <a:srgbClr val="2EE6D6"/>
          </a:solidFill>
          <a:ln w="12700">
            <a:solidFill>
              <a:srgbClr val="2EE6D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371600" y="18288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EE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magic, choreography.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228600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computers don't try every answer; they make wrong ones cancel.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3200400"/>
            <a:ext cx="502920" cy="502920"/>
          </a:xfrm>
          <a:prstGeom prst="ellipse">
            <a:avLst/>
          </a:prstGeom>
          <a:solidFill>
            <a:srgbClr val="FF4FA3"/>
          </a:solidFill>
          <a:ln w="12700">
            <a:solidFill>
              <a:srgbClr val="FF4FA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371600" y="315468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4F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Noise is the enemy.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1371600" y="361188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chips make errors, so we repair qubits by spreading them out.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40080" y="4526280"/>
            <a:ext cx="502920" cy="502920"/>
          </a:xfrm>
          <a:prstGeom prst="ellipse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0080" y="4526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0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1371600" y="448056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C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Teamwork wins today.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1371600" y="493776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circuits + classical computers together (QAOA).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58521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</a:t>
            </a:r>
            <a:pPr indent="0" marL="0">
              <a:buNone/>
            </a:pPr>
            <a:r>
              <a:rPr lang="en-US" sz="1800" dirty="0">
                <a:solidFill>
                  <a:srgbClr val="F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circuit on a real IBM quantum computer.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Schrödinger's Depot: my quantum journey</dc:title>
  <dc:subject>PptxGenJS Presentation</dc:subject>
  <dc:creator>PptxGenJS</dc:creator>
  <cp:lastModifiedBy>PptxGenJS</cp:lastModifiedBy>
  <cp:revision>1</cp:revision>
  <dcterms:created xsi:type="dcterms:W3CDTF">2026-09-26T09:05:26Z</dcterms:created>
  <dcterms:modified xsi:type="dcterms:W3CDTF">2026-09-26T09:05:26Z</dcterms:modified>
</cp:coreProperties>
</file>