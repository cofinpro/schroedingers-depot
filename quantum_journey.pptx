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H gate, then measure 1000 times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2EE6D6"/>
            </a:solidFill>
            <a:effectLst/>
          </c:spPr>
          <c:invertIfNegative val="0"/>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landed on 0</c:v>
                  </c:pt>
                  <c:pt idx="1">
                    <c:v>landed on 1</c:v>
                  </c:pt>
                </c:lvl>
              </c:multiLvlStrCache>
            </c:multiLvlStrRef>
          </c:cat>
          <c:val>
            <c:numRef>
              <c:f>Sheet1!$B$2:$B$3</c:f>
              <c:numCache>
                <c:formatCode>General</c:formatCode>
                <c:ptCount val="2"/>
                <c:pt idx="0">
                  <c:v>502</c:v>
                </c:pt>
                <c:pt idx="1">
                  <c:v>498</c:v>
                </c:pt>
              </c:numCache>
            </c:numRef>
          </c:val>
        </c:ser>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3F0FF"/>
                </a:solidFill>
                <a:latin typeface="Calibri"/>
              </a:defRPr>
            </a:pPr>
            <a:endParaRPr lang="en-US"/>
          </a:p>
        </c:txPr>
        <c:crossAx val="2094734552"/>
        <c:crosses val="autoZero"/>
        <c:auto val="1"/>
        <c:lblAlgn val="ctr"/>
        <c:noMultiLvlLbl val="1"/>
      </c:catAx>
      <c:valAx>
        <c:axId val="2094734552"/>
        <c:scaling>
          <c:orientation val="minMax"/>
          <c:max val="600"/>
        </c:scaling>
        <c:delete val="0"/>
        <c:axPos val="l"/>
        <c:majorGridlines>
          <c:spPr>
            <a:ln w="9525" cap="flat">
              <a:solidFill>
                <a:srgbClr val="3A347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9A3D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Measure both, 1000 times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FF4FA3"/>
            </a:solidFill>
            <a:effectLst/>
          </c:spPr>
          <c:invertIfNegative val="0"/>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00</c:v>
                  </c:pt>
                  <c:pt idx="1">
                    <c:v>01</c:v>
                  </c:pt>
                  <c:pt idx="2">
                    <c:v>10</c:v>
                  </c:pt>
                  <c:pt idx="3">
                    <c:v>11</c:v>
                  </c:pt>
                </c:lvl>
              </c:multiLvlStrCache>
            </c:multiLvlStrRef>
          </c:cat>
          <c:val>
            <c:numRef>
              <c:f>Sheet1!$B$2:$B$5</c:f>
              <c:numCache>
                <c:formatCode>General</c:formatCode>
                <c:ptCount val="4"/>
                <c:pt idx="0">
                  <c:v>502</c:v>
                </c:pt>
                <c:pt idx="1">
                  <c:v>0</c:v>
                </c:pt>
                <c:pt idx="2">
                  <c:v>0</c:v>
                </c:pt>
                <c:pt idx="3">
                  <c:v>498</c:v>
                </c:pt>
              </c:numCache>
            </c:numRef>
          </c:val>
        </c:ser>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3F0FF"/>
                </a:solidFill>
                <a:latin typeface="Calibri"/>
              </a:defRPr>
            </a:pPr>
            <a:endParaRPr lang="en-US"/>
          </a:p>
        </c:txPr>
        <c:crossAx val="2094734552"/>
        <c:crosses val="autoZero"/>
        <c:auto val="1"/>
        <c:lblAlgn val="ctr"/>
        <c:noMultiLvlLbl val="1"/>
      </c:catAx>
      <c:valAx>
        <c:axId val="2094734552"/>
        <c:scaling>
          <c:orientation val="minMax"/>
          <c:max val="600"/>
        </c:scaling>
        <c:delete val="0"/>
        <c:axPos val="l"/>
        <c:majorGridlines>
          <c:spPr>
            <a:ln w="9525" cap="flat">
              <a:solidFill>
                <a:srgbClr val="3A347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9A3D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Chance of opening box 101 (%)</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FFC24B"/>
            </a:solidFill>
            <a:effectLst/>
          </c:spPr>
          <c:invertIfNegative val="0"/>
          <c:dLbls>
            <c:numFmt formatCode="0.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0 rounds</c:v>
                  </c:pt>
                  <c:pt idx="1">
                    <c:v>1 round</c:v>
                  </c:pt>
                  <c:pt idx="2">
                    <c:v>2 rounds</c:v>
                  </c:pt>
                  <c:pt idx="3">
                    <c:v>3 rounds</c:v>
                  </c:pt>
                </c:lvl>
              </c:multiLvlStrCache>
            </c:multiLvlStrRef>
          </c:cat>
          <c:val>
            <c:numRef>
              <c:f>Sheet1!$B$2:$B$5</c:f>
              <c:numCache>
                <c:formatCode>General</c:formatCode>
                <c:ptCount val="4"/>
                <c:pt idx="0">
                  <c:v>12.5</c:v>
                </c:pt>
                <c:pt idx="1">
                  <c:v>78.1</c:v>
                </c:pt>
                <c:pt idx="2">
                  <c:v>94.5</c:v>
                </c:pt>
                <c:pt idx="3">
                  <c:v>33</c:v>
                </c:pt>
              </c:numCache>
            </c:numRef>
          </c:val>
        </c:ser>
        <c:dLbls>
          <c:numFmt formatCode="0.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3F0FF"/>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3A347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9A3D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QAOA's pick, money split</a:t>
            </a:r>
          </a:p>
        </c:rich>
      </c:tx>
      <c:layout/>
      <c:overlay val="0"/>
    </c:title>
    <c:autoTitleDeleted val="0"/>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2EE6D6"/>
              </a:solidFill>
              <a:ln w="19050" cap="flat">
                <a:solidFill>
                  <a:srgbClr val="120E2E"/>
                </a:solidFill>
                <a:prstDash val="solid"/>
                <a:round/>
              </a:ln>
              <a:effectLst/>
            </c:spPr>
          </c:dPt>
          <c:dPt>
            <c:idx val="1"/>
            <c:bubble3D val="0"/>
            <c:spPr>
              <a:solidFill>
                <a:srgbClr val="FF4FA3"/>
              </a:solidFill>
              <a:ln w="19050" cap="flat">
                <a:solidFill>
                  <a:srgbClr val="120E2E"/>
                </a:solidFill>
                <a:prstDash val="solid"/>
                <a:round/>
              </a:ln>
              <a:effectLst/>
            </c:spPr>
          </c:dPt>
          <c:dPt>
            <c:idx val="2"/>
            <c:bubble3D val="0"/>
            <c:spPr>
              <a:solidFill>
                <a:srgbClr val="FFC24B"/>
              </a:solidFill>
              <a:ln w="19050" cap="flat">
                <a:solidFill>
                  <a:srgbClr val="120E2E"/>
                </a:solidFill>
                <a:prstDash val="solid"/>
                <a:round/>
              </a:ln>
              <a:effectLst/>
            </c:spPr>
          </c:dPt>
          <c:dPt>
            <c:idx val="3"/>
            <c:bubble3D val="0"/>
            <c:spPr>
              <a:solidFill>
                <a:srgbClr val="9B8CFF"/>
              </a:solidFill>
              <a:ln w="19050" cap="flat">
                <a:solidFill>
                  <a:srgbClr val="120E2E"/>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JNJ</c:v>
                </c:pt>
                <c:pt idx="1">
                  <c:v>XOM</c:v>
                </c:pt>
                <c:pt idx="2">
                  <c:v>AAPL</c:v>
                </c:pt>
                <c:pt idx="3">
                  <c:v>GLD</c:v>
                </c:pt>
              </c:strCache>
            </c:strRef>
          </c:cat>
          <c:val>
            <c:numRef>
              <c:f>Sheet1!$B$2:$B$5</c:f>
              <c:numCache>
                <c:ptCount val="4"/>
                <c:pt idx="0">
                  <c:v>40</c:v>
                </c:pt>
                <c:pt idx="1">
                  <c:v>25.4</c:v>
                </c:pt>
                <c:pt idx="2">
                  <c:v>24.5</c:v>
                </c:pt>
                <c:pt idx="3">
                  <c:v>10.1</c:v>
                </c:pt>
              </c:numCache>
            </c:numRef>
          </c:val>
        </c:ser>
        <c:firstSliceAng val="0"/>
        <c:holeSize val="55"/>
      </c:doughnutChart>
      <c:spPr>
        <a:noFill/>
        <a:ln>
          <a:noFill/>
        </a:ln>
        <a:effectLst/>
      </c:spPr>
    </c:plotArea>
    <c:legend>
      <c:legendPos val="b"/>
      <c:overlay val="0"/>
      <c:txPr>
        <a:bodyPr/>
        <a:lstStyle/>
        <a:p>
          <a:pPr>
            <a:defRPr sz="1300">
              <a:solidFill>
                <a:srgbClr val="F3F0FF"/>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Return per unit of risk (Sharpe)</a:t>
            </a:r>
          </a:p>
        </c:rich>
      </c:tx>
      <c:layout/>
      <c:overlay val="0"/>
    </c:title>
    <c:autoTitleDeleted val="0"/>
    <c:plotArea>
      <c:layout/>
      <c:barChart>
        <c:barDir val="bar"/>
        <c:grouping val="clustered"/>
        <c:varyColors val="0"/>
        <c:ser>
          <c:idx val="0"/>
          <c:order val="0"/>
          <c:tx>
            <c:strRef>
              <c:f>Sheet1!$B$1</c:f>
              <c:strCache>
                <c:ptCount val="1"/>
                <c:pt idx="0">
                  <c:v>Sharpe</c:v>
                </c:pt>
              </c:strCache>
            </c:strRef>
          </c:tx>
          <c:spPr>
            <a:solidFill>
              <a:srgbClr val="2EE6D6"/>
            </a:solidFill>
            <a:effectLst/>
          </c:spPr>
          <c:invertIfNegative val="0"/>
          <c:dLbls>
            <c:numFmt formatCode="0.0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EE6D6"/>
              </a:solidFill>
              <a:effectLst/>
            </c:spPr>
          </c:dPt>
          <c:dPt>
            <c:idx val="1"/>
            <c:invertIfNegative val="0"/>
            <c:bubble3D val="0"/>
            <c:spPr>
              <a:solidFill>
                <a:srgbClr val="FFC24B"/>
              </a:solidFill>
              <a:effectLst/>
            </c:spPr>
          </c:dPt>
          <c:dPt>
            <c:idx val="2"/>
            <c:invertIfNegative val="0"/>
            <c:bubble3D val="0"/>
            <c:spPr>
              <a:solidFill>
                <a:srgbClr val="2EE6D6"/>
              </a:solidFill>
              <a:effectLst/>
            </c:spPr>
          </c:dPt>
          <c:dPt>
            <c:idx val="3"/>
            <c:invertIfNegative val="0"/>
            <c:bubble3D val="0"/>
            <c:spPr>
              <a:solidFill>
                <a:srgbClr val="2EE6D6"/>
              </a:solidFill>
              <a:effectLst/>
            </c:spPr>
          </c:dPt>
          <c:cat>
            <c:multiLvlStrRef>
              <c:f>Sheet1!$A$2:$A$5</c:f>
              <c:multiLvlStrCache>
                <c:ptCount val="4"/>
                <c:lvl>
                  <c:pt idx="0">
                    <c:v>Equal weight</c:v>
                  </c:pt>
                  <c:pt idx="1">
                    <c:v>QAOA + Sharpe</c:v>
                  </c:pt>
                  <c:pt idx="2">
                    <c:v>Min variance</c:v>
                  </c:pt>
                  <c:pt idx="3">
                    <c:v>Max Sharpe</c:v>
                  </c:pt>
                </c:lvl>
              </c:multiLvlStrCache>
            </c:multiLvlStrRef>
          </c:cat>
          <c:val>
            <c:numRef>
              <c:f>Sheet1!$B$2:$B$5</c:f>
              <c:numCache>
                <c:formatCode>General</c:formatCode>
                <c:ptCount val="4"/>
                <c:pt idx="0">
                  <c:v>1.56</c:v>
                </c:pt>
                <c:pt idx="1">
                  <c:v>1.27</c:v>
                </c:pt>
                <c:pt idx="2">
                  <c:v>1.16</c:v>
                </c:pt>
                <c:pt idx="3">
                  <c:v>1.09</c:v>
                </c:pt>
              </c:numCache>
            </c:numRef>
          </c:val>
        </c:ser>
        <c:dLbls>
          <c:numFmt formatCode="0.0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3F0FF"/>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3A347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A9A3D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3F0FF"/>
                </a:solidFill>
                <a:latin typeface="Calibri"/>
              </a:defRPr>
            </a:pPr>
            <a:r>
              <a:rPr sz="1400" b="0" i="0" u="none" strike="noStrike">
                <a:solidFill>
                  <a:srgbClr val="F3F0FF"/>
                </a:solidFill>
                <a:latin typeface="Calibri"/>
              </a:rPr>
              <a:t>Bob gets the exact message (%)</a:t>
            </a:r>
          </a:p>
        </c:rich>
      </c:tx>
      <c:layout/>
      <c:overlay val="0"/>
    </c:title>
    <c:autoTitleDeleted val="0"/>
    <c:plotArea>
      <c:layout/>
      <c:barChart>
        <c:barDir val="col"/>
        <c:grouping val="clustered"/>
        <c:varyColors val="0"/>
        <c:ser>
          <c:idx val="0"/>
          <c:order val="0"/>
          <c:tx>
            <c:strRef>
              <c:f>Sheet1!$B$1</c:f>
              <c:strCache>
                <c:ptCount val="1"/>
                <c:pt idx="0">
                  <c:v>ok</c:v>
                </c:pt>
              </c:strCache>
            </c:strRef>
          </c:tx>
          <c:spPr>
            <a:solidFill>
              <a:srgbClr val="2EE6D6"/>
            </a:solidFill>
            <a:effectLst/>
          </c:spPr>
          <c:invertIfNegative val="0"/>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EE6D6"/>
              </a:solidFill>
              <a:effectLst/>
            </c:spPr>
          </c:dPt>
          <c:dPt>
            <c:idx val="1"/>
            <c:invertIfNegative val="0"/>
            <c:bubble3D val="0"/>
            <c:spPr>
              <a:solidFill>
                <a:srgbClr val="FFC24B"/>
              </a:solidFill>
              <a:effectLst/>
            </c:spPr>
          </c:dPt>
          <c:dPt>
            <c:idx val="2"/>
            <c:invertIfNegative val="0"/>
            <c:bubble3D val="0"/>
            <c:spPr>
              <a:solidFill>
                <a:srgbClr val="FF4FA3"/>
              </a:solidFill>
              <a:effectLst/>
            </c:spPr>
          </c:dPt>
          <c:dPt>
            <c:idx val="3"/>
            <c:invertIfNegative val="0"/>
            <c:bubble3D val="0"/>
            <c:spPr>
              <a:solidFill>
                <a:srgbClr val="FF4FA3"/>
              </a:solidFill>
              <a:effectLst/>
            </c:spPr>
          </c:dPt>
          <c:cat>
            <c:multiLvlStrRef>
              <c:f>Sheet1!$A$2:$A$5</c:f>
              <c:multiLvlStrCache>
                <c:ptCount val="4"/>
                <c:lvl>
                  <c:pt idx="0">
                    <c:v>both fixes</c:v>
                  </c:pt>
                  <c:pt idx="1">
                    <c:v>no sign fix</c:v>
                  </c:pt>
                  <c:pt idx="2">
                    <c:v>no flip fix</c:v>
                  </c:pt>
                  <c:pt idx="3">
                    <c:v>no fixes</c:v>
                  </c:pt>
                </c:lvl>
              </c:multiLvlStrCache>
            </c:multiLvlStrRef>
          </c:cat>
          <c:val>
            <c:numRef>
              <c:f>Sheet1!$B$2:$B$5</c:f>
              <c:numCache>
                <c:formatCode>General</c:formatCode>
                <c:ptCount val="4"/>
                <c:pt idx="0">
                  <c:v>100</c:v>
                </c:pt>
                <c:pt idx="1">
                  <c:v>68</c:v>
                </c:pt>
                <c:pt idx="2">
                  <c:v>50</c:v>
                </c:pt>
                <c:pt idx="3">
                  <c:v>50</c:v>
                </c:pt>
              </c:numCache>
            </c:numRef>
          </c:val>
        </c:ser>
        <c:dLbls>
          <c:numFmt formatCode="#,##0" sourceLinked="0"/>
          <c:txPr>
            <a:bodyPr/>
            <a:lstStyle/>
            <a:p>
              <a:pPr>
                <a:defRPr b="0" i="0" strike="noStrike" sz="1300" u="none">
                  <a:solidFill>
                    <a:srgbClr val="F3F0F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3F0FF"/>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3A347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A9A3D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sums up ten coding katas. You don't need to remember any formulas: each slide has one idea, one picture and one result I actually ran. The cat in the box is Schrödinger's cat, the classic picture of 'both at once until you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 (Hadamard) gate puts a qubit into an even blend of 0 and 1. Measuring 1000 times gave 502 zeros and 498 ones. That randomness isn't a bug; it's how the qubit behaves. The trick of quantum computing is to steer the weights BEFORE you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flips 0 and 1. H makes the 50/50 blend. Z and S change a hidden 'direction' (the phase): you can't see it by measuring directly, but it matters later. The combos at the bottom are ones I discovered in the katas: for example, H-Z-H turns an invisible sign into a visible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one idea to keep, it's this one. Think of noise-cancelling headphones: two waves with opposite signs cancel to silence. Quantum algorithms choreograph the signs so wrong answers cancel and the right answer gets louder.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qubit on its own is still a random coin. But the two are linked: whenever one lands on 0 the other does too, even though neither had decided beforehand. Einstein called this 'spooky action at a distance'. We use it again for teleportation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8 boxes, a normal search needs up to 8 tries. Grover needs about the square root: 2 rounds reach 94.5%. The surprise: a third round makes it WORSE (33%), because the arrow turns past the target. Quantum algorithms need exactly the right number of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Qubits are fragile: heat, vibration and imperfect control all nudge them. On a perfect simulator Grover found the prize 945 times out of 1000; on a simulated real chip only 668. That's why today's machines are called NISQ: Noisy Intermediate-Scale Quantum. It's also why error correction (later)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QAOA = Quantum Approximate Optimization Algorithm. The map shows the real 8-stock problem: for every pair of angles, the colour is the average cost the circuit produces. Dark is good. The classical computer walks downhill on this map; the quantum circuit tells it how high each spot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the full pipeline on real prices for AAPL, MSFT, JPM, JNJ, XOM, PG, gold and bonds, re-deciding every quarter using only past data. QAOA picked the 4 assets, a classical optimizer split the money. It earned the most (21.5% a year) but took more risk; equal weighting had the best return per unit of risk. Educational, not investment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bit-flip repair code. It survives any ONE flip on any of the three qubits: the result was 20% zero, 80% one in every case. Real error correction (like Google's and IBM's) uses the same idea with hundreds of physical qubits per logical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has a qubit she wants Bob to have. They share an entangled pair from earlier. Alice mixes her message with her half, measures, and phones Bob two ordinary bits. Bob uses them to pick a fix (flip and/or sign). With both fixes he gets the message 100% exactly. Alice's original is destroyed, so it's a move, not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slide earlier felt fuzzy, this is the version to remember. Every kata was one of these ideas, or two of them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closing line: 'I don't claim to understand quantum mechanics. Nobody really does. But I can now build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0E2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chart" Target="/ppt/charts/chart6.xm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ivate/tmp/claude-501/-Users-sama-teyha-repos-coding-dojo-schroedingers-depot/08894b76-43ad-40b2-8d8d-4e13e55cf558/scratchpad/deck/img/hero.png">    </p:cNvPr>
          <p:cNvPicPr>
            <a:picLocks noChangeAspect="1"/>
          </p:cNvPicPr>
          <p:nvPr/>
        </p:nvPicPr>
        <p:blipFill>
          <a:blip r:embed="rId1"/>
          <a:stretch>
            <a:fillRect/>
          </a:stretch>
        </p:blipFill>
        <p:spPr>
          <a:xfrm>
            <a:off x="6766560" y="822960"/>
            <a:ext cx="5212080" cy="5212080"/>
          </a:xfrm>
          <a:prstGeom prst="rect">
            <a:avLst/>
          </a:prstGeom>
        </p:spPr>
      </p:pic>
      <p:sp>
        <p:nvSpPr>
          <p:cNvPr id="3" name="Text 0"/>
          <p:cNvSpPr txBox="1"/>
          <p:nvPr/>
        </p:nvSpPr>
        <p:spPr>
          <a:xfrm>
            <a:off x="640080" y="1554480"/>
            <a:ext cx="6217920" cy="457200"/>
          </a:xfrm>
          <a:prstGeom prst="rect">
            <a:avLst/>
          </a:prstGeom>
          <a:noFill/>
          <a:ln/>
        </p:spPr>
        <p:txBody>
          <a:bodyPr wrap="square" lIns="0" tIns="0" rIns="0" bIns="0" rtlCol="0" anchor="t"/>
          <a:lstStyle/>
          <a:p>
            <a:pPr indent="0" marL="0">
              <a:buNone/>
            </a:pPr>
            <a:r>
              <a:rPr lang="en-US" sz="1600" b="1" spc="400" kern="0" dirty="0">
                <a:solidFill>
                  <a:srgbClr val="2EE6D6"/>
                </a:solidFill>
                <a:latin typeface="Calibri" pitchFamily="34" charset="0"/>
                <a:ea typeface="Calibri" pitchFamily="34" charset="-122"/>
                <a:cs typeface="Calibri" pitchFamily="34" charset="-120"/>
              </a:rPr>
              <a:t>SCHRÖDINGER'S DEPOT</a:t>
            </a:r>
            <a:endParaRPr lang="en-US" sz="1600" dirty="0"/>
          </a:p>
        </p:txBody>
      </p:sp>
      <p:sp>
        <p:nvSpPr>
          <p:cNvPr id="4" name="Text 1"/>
          <p:cNvSpPr txBox="1"/>
          <p:nvPr/>
        </p:nvSpPr>
        <p:spPr>
          <a:xfrm>
            <a:off x="640080" y="2057400"/>
            <a:ext cx="6217920" cy="1737360"/>
          </a:xfrm>
          <a:prstGeom prst="rect">
            <a:avLst/>
          </a:prstGeom>
          <a:noFill/>
          <a:ln/>
        </p:spPr>
        <p:txBody>
          <a:bodyPr wrap="square" lIns="0" tIns="0" rIns="0" bIns="0" rtlCol="0" anchor="ctr"/>
          <a:lstStyle/>
          <a:p>
            <a:pPr indent="0" marL="0">
              <a:buNone/>
            </a:pPr>
            <a:r>
              <a:rPr lang="en-US" sz="4800" b="1" dirty="0">
                <a:solidFill>
                  <a:srgbClr val="F3F0FF"/>
                </a:solidFill>
                <a:latin typeface="Cambria" pitchFamily="34" charset="0"/>
                <a:ea typeface="Cambria" pitchFamily="34" charset="-122"/>
                <a:cs typeface="Cambria" pitchFamily="34" charset="-120"/>
              </a:rPr>
              <a:t>My quantum journey in 10 katas</a:t>
            </a:r>
            <a:endParaRPr lang="en-US" sz="4800" dirty="0"/>
          </a:p>
        </p:txBody>
      </p:sp>
      <p:sp>
        <p:nvSpPr>
          <p:cNvPr id="5" name="Text 2"/>
          <p:cNvSpPr txBox="1"/>
          <p:nvPr/>
        </p:nvSpPr>
        <p:spPr>
          <a:xfrm>
            <a:off x="640080" y="3977640"/>
            <a:ext cx="5852160" cy="914400"/>
          </a:xfrm>
          <a:prstGeom prst="rect">
            <a:avLst/>
          </a:prstGeom>
          <a:noFill/>
          <a:ln/>
        </p:spPr>
        <p:txBody>
          <a:bodyPr wrap="square" lIns="0" tIns="0" rIns="0" bIns="0" rtlCol="0" anchor="t"/>
          <a:lstStyle/>
          <a:p>
            <a:pPr indent="0" marL="0">
              <a:buNone/>
            </a:pPr>
            <a:r>
              <a:rPr lang="en-US" sz="1800" dirty="0">
                <a:solidFill>
                  <a:srgbClr val="A9A3D6"/>
                </a:solidFill>
                <a:latin typeface="Calibri" pitchFamily="34" charset="0"/>
                <a:ea typeface="Calibri" pitchFamily="34" charset="-122"/>
                <a:cs typeface="Calibri" pitchFamily="34" charset="-120"/>
              </a:rPr>
              <a:t>Superposition, gates, entanglement, search, noise, finance, repair and teleportation, explained for a beginner.</a:t>
            </a:r>
            <a:endParaRPr lang="en-US" sz="1800" dirty="0"/>
          </a:p>
        </p:txBody>
      </p:sp>
      <p:sp>
        <p:nvSpPr>
          <p:cNvPr id="6" name="Text 3"/>
          <p:cNvSpPr txBox="1"/>
          <p:nvPr/>
        </p:nvSpPr>
        <p:spPr>
          <a:xfrm>
            <a:off x="640080" y="5257800"/>
            <a:ext cx="5486400" cy="365760"/>
          </a:xfrm>
          <a:prstGeom prst="rect">
            <a:avLst/>
          </a:prstGeom>
          <a:noFill/>
          <a:ln/>
        </p:spPr>
        <p:txBody>
          <a:bodyPr wrap="square" lIns="0" tIns="0" rIns="0" bIns="0" rtlCol="0" anchor="t"/>
          <a:lstStyle/>
          <a:p>
            <a:pPr indent="0" marL="0">
              <a:buNone/>
            </a:pPr>
            <a:r>
              <a:rPr lang="en-US" sz="1400" b="1" dirty="0">
                <a:solidFill>
                  <a:srgbClr val="FFC24B"/>
                </a:solidFill>
                <a:latin typeface="Calibri" pitchFamily="34" charset="0"/>
                <a:ea typeface="Calibri" pitchFamily="34" charset="-122"/>
                <a:cs typeface="Calibri" pitchFamily="34" charset="-120"/>
              </a:rPr>
              <a:t>Python · Qiskit · uv</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A bit is a coin. A qubit is a spinning coin.</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1</a:t>
            </a:r>
            <a:endParaRPr lang="en-US" sz="1400" dirty="0"/>
          </a:p>
        </p:txBody>
      </p:sp>
      <p:pic>
        <p:nvPicPr>
          <p:cNvPr id="5" name="Image 0" descr="/private/tmp/claude-501/-Users-sama-teyha-repos-coding-dojo-schroedingers-depot/08894b76-43ad-40b2-8d8d-4e13e55cf558/scratchpad/deck/img/coins.png">    </p:cNvPr>
          <p:cNvPicPr>
            <a:picLocks noChangeAspect="1"/>
          </p:cNvPicPr>
          <p:nvPr/>
        </p:nvPicPr>
        <p:blipFill>
          <a:blip r:embed="rId1"/>
          <a:stretch>
            <a:fillRect/>
          </a:stretch>
        </p:blipFill>
        <p:spPr>
          <a:xfrm>
            <a:off x="457200" y="1417320"/>
            <a:ext cx="6492240" cy="2926080"/>
          </a:xfrm>
          <a:prstGeom prst="rect">
            <a:avLst/>
          </a:prstGeom>
        </p:spPr>
      </p:pic>
      <p:sp>
        <p:nvSpPr>
          <p:cNvPr id="6" name="Shape 3"/>
          <p:cNvSpPr/>
          <p:nvPr/>
        </p:nvSpPr>
        <p:spPr>
          <a:xfrm>
            <a:off x="548640" y="4663440"/>
            <a:ext cx="6309360" cy="1280160"/>
          </a:xfrm>
          <a:prstGeom prst="roundRect">
            <a:avLst>
              <a:gd name="adj" fmla="val 10714"/>
            </a:avLst>
          </a:prstGeom>
          <a:solidFill>
            <a:srgbClr val="221D52"/>
          </a:solidFill>
          <a:ln w="12700">
            <a:solidFill>
              <a:srgbClr val="221D52"/>
            </a:solidFill>
            <a:prstDash val="solid"/>
          </a:ln>
        </p:spPr>
      </p:sp>
      <p:sp>
        <p:nvSpPr>
          <p:cNvPr id="7" name="Text 4"/>
          <p:cNvSpPr txBox="1"/>
          <p:nvPr/>
        </p:nvSpPr>
        <p:spPr>
          <a:xfrm>
            <a:off x="822960" y="4846320"/>
            <a:ext cx="5760720" cy="1280160"/>
          </a:xfrm>
          <a:prstGeom prst="rect">
            <a:avLst/>
          </a:prstGeom>
          <a:noFill/>
          <a:ln/>
        </p:spPr>
        <p:txBody>
          <a:bodyPr wrap="square" lIns="0" tIns="0" rIns="0" bIns="0" rtlCol="0" anchor="t"/>
          <a:lstStyle/>
          <a:p>
            <a:pPr indent="0" marL="0">
              <a:buNone/>
            </a:pPr>
            <a:r>
              <a:rPr lang="en-US" sz="1600" b="1" dirty="0">
                <a:solidFill>
                  <a:srgbClr val="FFC24B"/>
                </a:solidFill>
                <a:latin typeface="Calibri" pitchFamily="34" charset="0"/>
                <a:ea typeface="Calibri" pitchFamily="34" charset="-122"/>
                <a:cs typeface="Calibri" pitchFamily="34" charset="-120"/>
              </a:rPr>
              <a:t>Looking = the coin lands. </a:t>
            </a:r>
            <a:pPr indent="0" marL="0">
              <a:buNone/>
            </a:pPr>
            <a:r>
              <a:rPr lang="en-US" sz="1600" dirty="0">
                <a:solidFill>
                  <a:srgbClr val="F3F0FF"/>
                </a:solidFill>
                <a:latin typeface="Calibri" pitchFamily="34" charset="0"/>
                <a:ea typeface="Calibri" pitchFamily="34" charset="-122"/>
                <a:cs typeface="Calibri" pitchFamily="34" charset="-120"/>
              </a:rPr>
              <a:t>While a qubit spins, it holds both 0 and 1 with some weight. The moment you measure, it lands on one of them at random, and the blend is gone.</a:t>
            </a:r>
            <a:endParaRPr lang="en-US" sz="1600" dirty="0"/>
          </a:p>
        </p:txBody>
      </p:sp>
      <p:graphicFrame>
        <p:nvGraphicFramePr>
          <p:cNvPr id="8" name="Chart 0" descr=""/>
          <p:cNvGraphicFramePr/>
          <p:nvPr/>
        </p:nvGraphicFramePr>
        <p:xfrm>
          <a:off x="7315200" y="1463040"/>
          <a:ext cx="4389120" cy="40233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7315200" y="5669280"/>
            <a:ext cx="4389120" cy="457200"/>
          </a:xfrm>
          <a:prstGeom prst="rect">
            <a:avLst/>
          </a:prstGeom>
          <a:noFill/>
          <a:ln/>
        </p:spPr>
        <p:txBody>
          <a:bodyPr wrap="square" lIns="0" tIns="0" rIns="0" bIns="0" rtlCol="0" anchor="t"/>
          <a:lstStyle/>
          <a:p>
            <a:pPr algn="ctr" indent="0" marL="0">
              <a:buNone/>
            </a:pPr>
            <a:r>
              <a:rPr lang="en-US" sz="1400" i="1" dirty="0">
                <a:solidFill>
                  <a:srgbClr val="A9A3D6"/>
                </a:solidFill>
                <a:latin typeface="Calibri" pitchFamily="34" charset="0"/>
                <a:ea typeface="Calibri" pitchFamily="34" charset="-122"/>
                <a:cs typeface="Calibri" pitchFamily="34" charset="-120"/>
              </a:rPr>
              <a:t>A perfect 50/50 coin, made of one qubit.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Gates are just turns of an arrow</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Katas 2–3</a:t>
            </a:r>
            <a:endParaRPr lang="en-US" sz="1400" dirty="0"/>
          </a:p>
        </p:txBody>
      </p:sp>
      <p:sp>
        <p:nvSpPr>
          <p:cNvPr id="5" name="Text 3"/>
          <p:cNvSpPr txBox="1"/>
          <p:nvPr/>
        </p:nvSpPr>
        <p:spPr>
          <a:xfrm>
            <a:off x="548640" y="1234440"/>
            <a:ext cx="10972800" cy="457200"/>
          </a:xfrm>
          <a:prstGeom prst="rect">
            <a:avLst/>
          </a:prstGeom>
          <a:noFill/>
          <a:ln/>
        </p:spPr>
        <p:txBody>
          <a:bodyPr wrap="square" lIns="0" tIns="0" rIns="0" bIns="0" rtlCol="0" anchor="t"/>
          <a:lstStyle/>
          <a:p>
            <a:pPr indent="0" marL="0">
              <a:buNone/>
            </a:pPr>
            <a:r>
              <a:rPr lang="en-US" sz="1800" dirty="0">
                <a:solidFill>
                  <a:srgbClr val="A9A3D6"/>
                </a:solidFill>
                <a:latin typeface="Calibri" pitchFamily="34" charset="0"/>
                <a:ea typeface="Calibri" pitchFamily="34" charset="-122"/>
                <a:cs typeface="Calibri" pitchFamily="34" charset="-120"/>
              </a:rPr>
              <a:t>Picture the qubit as an arrow in a ball: pointing up is 0, down is 1, anywhere in between is a blend.</a:t>
            </a:r>
            <a:endParaRPr lang="en-US" sz="1800" dirty="0"/>
          </a:p>
        </p:txBody>
      </p:sp>
      <p:pic>
        <p:nvPicPr>
          <p:cNvPr id="6" name="Image 0" descr="/private/tmp/claude-501/-Users-sama-teyha-repos-coding-dojo-schroedingers-depot/08894b76-43ad-40b2-8d8d-4e13e55cf558/scratchpad/deck/img/gates.png">    </p:cNvPr>
          <p:cNvPicPr>
            <a:picLocks noChangeAspect="1"/>
          </p:cNvPicPr>
          <p:nvPr/>
        </p:nvPicPr>
        <p:blipFill>
          <a:blip r:embed="rId1"/>
          <a:stretch>
            <a:fillRect/>
          </a:stretch>
        </p:blipFill>
        <p:spPr>
          <a:xfrm>
            <a:off x="822960" y="1783080"/>
            <a:ext cx="10515600" cy="3575304"/>
          </a:xfrm>
          <a:prstGeom prst="rect">
            <a:avLst/>
          </a:prstGeom>
        </p:spPr>
      </p:pic>
      <p:sp>
        <p:nvSpPr>
          <p:cNvPr id="7" name="Shape 4"/>
          <p:cNvSpPr/>
          <p:nvPr/>
        </p:nvSpPr>
        <p:spPr>
          <a:xfrm>
            <a:off x="548640" y="5486400"/>
            <a:ext cx="3474720" cy="868680"/>
          </a:xfrm>
          <a:prstGeom prst="roundRect">
            <a:avLst>
              <a:gd name="adj" fmla="val 15789"/>
            </a:avLst>
          </a:prstGeom>
          <a:solidFill>
            <a:srgbClr val="221D52"/>
          </a:solidFill>
          <a:ln w="12700">
            <a:solidFill>
              <a:srgbClr val="221D52"/>
            </a:solidFill>
            <a:prstDash val="solid"/>
          </a:ln>
        </p:spPr>
      </p:sp>
      <p:sp>
        <p:nvSpPr>
          <p:cNvPr id="8" name="Text 5"/>
          <p:cNvSpPr txBox="1"/>
          <p:nvPr/>
        </p:nvSpPr>
        <p:spPr>
          <a:xfrm>
            <a:off x="822960" y="5486400"/>
            <a:ext cx="3017520" cy="868680"/>
          </a:xfrm>
          <a:prstGeom prst="rect">
            <a:avLst/>
          </a:prstGeom>
          <a:noFill/>
          <a:ln/>
        </p:spPr>
        <p:txBody>
          <a:bodyPr wrap="square" lIns="0" tIns="0" rIns="0" bIns="0" rtlCol="0" anchor="ctr"/>
          <a:lstStyle/>
          <a:p>
            <a:pPr indent="0" marL="0">
              <a:buNone/>
            </a:pPr>
            <a:r>
              <a:rPr lang="en-US" sz="2000" b="1" dirty="0">
                <a:solidFill>
                  <a:srgbClr val="2EE6D6"/>
                </a:solidFill>
                <a:latin typeface="Cambria" pitchFamily="34" charset="0"/>
                <a:ea typeface="Cambria" pitchFamily="34" charset="-122"/>
                <a:cs typeface="Cambria" pitchFamily="34" charset="-120"/>
              </a:rPr>
              <a:t>H then H </a:t>
            </a:r>
            <a:pPr indent="0" marL="0">
              <a:buNone/>
            </a:pPr>
            <a:r>
              <a:rPr lang="en-US" sz="2000" dirty="0">
                <a:solidFill>
                  <a:srgbClr val="F3F0FF"/>
                </a:solidFill>
                <a:latin typeface="Cambria" pitchFamily="34" charset="0"/>
                <a:ea typeface="Cambria" pitchFamily="34" charset="-122"/>
                <a:cs typeface="Cambria" pitchFamily="34" charset="-120"/>
              </a:rPr>
              <a:t>= do nothing</a:t>
            </a:r>
            <a:endParaRPr lang="en-US" sz="2000" dirty="0"/>
          </a:p>
        </p:txBody>
      </p:sp>
      <p:sp>
        <p:nvSpPr>
          <p:cNvPr id="9" name="Shape 6"/>
          <p:cNvSpPr/>
          <p:nvPr/>
        </p:nvSpPr>
        <p:spPr>
          <a:xfrm>
            <a:off x="4297680" y="5486400"/>
            <a:ext cx="3474720" cy="868680"/>
          </a:xfrm>
          <a:prstGeom prst="roundRect">
            <a:avLst>
              <a:gd name="adj" fmla="val 15789"/>
            </a:avLst>
          </a:prstGeom>
          <a:solidFill>
            <a:srgbClr val="221D52"/>
          </a:solidFill>
          <a:ln w="12700">
            <a:solidFill>
              <a:srgbClr val="221D52"/>
            </a:solidFill>
            <a:prstDash val="solid"/>
          </a:ln>
        </p:spPr>
      </p:sp>
      <p:sp>
        <p:nvSpPr>
          <p:cNvPr id="10" name="Text 7"/>
          <p:cNvSpPr txBox="1"/>
          <p:nvPr/>
        </p:nvSpPr>
        <p:spPr>
          <a:xfrm>
            <a:off x="4572000" y="5486400"/>
            <a:ext cx="3017520" cy="868680"/>
          </a:xfrm>
          <a:prstGeom prst="rect">
            <a:avLst/>
          </a:prstGeom>
          <a:noFill/>
          <a:ln/>
        </p:spPr>
        <p:txBody>
          <a:bodyPr wrap="square" lIns="0" tIns="0" rIns="0" bIns="0" rtlCol="0" anchor="ctr"/>
          <a:lstStyle/>
          <a:p>
            <a:pPr indent="0" marL="0">
              <a:buNone/>
            </a:pPr>
            <a:r>
              <a:rPr lang="en-US" sz="2000" b="1" dirty="0">
                <a:solidFill>
                  <a:srgbClr val="9B8CFF"/>
                </a:solidFill>
                <a:latin typeface="Cambria" pitchFamily="34" charset="0"/>
                <a:ea typeface="Cambria" pitchFamily="34" charset="-122"/>
                <a:cs typeface="Cambria" pitchFamily="34" charset="-120"/>
              </a:rPr>
              <a:t>S then S </a:t>
            </a:r>
            <a:pPr indent="0" marL="0">
              <a:buNone/>
            </a:pPr>
            <a:r>
              <a:rPr lang="en-US" sz="2000" dirty="0">
                <a:solidFill>
                  <a:srgbClr val="F3F0FF"/>
                </a:solidFill>
                <a:latin typeface="Cambria" pitchFamily="34" charset="0"/>
                <a:ea typeface="Cambria" pitchFamily="34" charset="-122"/>
                <a:cs typeface="Cambria" pitchFamily="34" charset="-120"/>
              </a:rPr>
              <a:t>= Z</a:t>
            </a:r>
            <a:endParaRPr lang="en-US" sz="2000" dirty="0"/>
          </a:p>
        </p:txBody>
      </p:sp>
      <p:sp>
        <p:nvSpPr>
          <p:cNvPr id="11" name="Shape 8"/>
          <p:cNvSpPr/>
          <p:nvPr/>
        </p:nvSpPr>
        <p:spPr>
          <a:xfrm>
            <a:off x="8046720" y="5486400"/>
            <a:ext cx="3474720" cy="868680"/>
          </a:xfrm>
          <a:prstGeom prst="roundRect">
            <a:avLst>
              <a:gd name="adj" fmla="val 15789"/>
            </a:avLst>
          </a:prstGeom>
          <a:solidFill>
            <a:srgbClr val="221D52"/>
          </a:solidFill>
          <a:ln w="12700">
            <a:solidFill>
              <a:srgbClr val="221D52"/>
            </a:solidFill>
            <a:prstDash val="solid"/>
          </a:ln>
        </p:spPr>
      </p:sp>
      <p:sp>
        <p:nvSpPr>
          <p:cNvPr id="12" name="Text 9"/>
          <p:cNvSpPr txBox="1"/>
          <p:nvPr/>
        </p:nvSpPr>
        <p:spPr>
          <a:xfrm>
            <a:off x="8321040" y="5486400"/>
            <a:ext cx="3017520" cy="868680"/>
          </a:xfrm>
          <a:prstGeom prst="rect">
            <a:avLst/>
          </a:prstGeom>
          <a:noFill/>
          <a:ln/>
        </p:spPr>
        <p:txBody>
          <a:bodyPr wrap="square" lIns="0" tIns="0" rIns="0" bIns="0" rtlCol="0" anchor="ctr"/>
          <a:lstStyle/>
          <a:p>
            <a:pPr indent="0" marL="0">
              <a:buNone/>
            </a:pPr>
            <a:r>
              <a:rPr lang="en-US" sz="2000" b="1" dirty="0">
                <a:solidFill>
                  <a:srgbClr val="FFC24B"/>
                </a:solidFill>
                <a:latin typeface="Cambria" pitchFamily="34" charset="0"/>
                <a:ea typeface="Cambria" pitchFamily="34" charset="-122"/>
                <a:cs typeface="Cambria" pitchFamily="34" charset="-120"/>
              </a:rPr>
              <a:t>H, Z, H </a:t>
            </a:r>
            <a:pPr indent="0" marL="0">
              <a:buNone/>
            </a:pPr>
            <a:r>
              <a:rPr lang="en-US" sz="2000" dirty="0">
                <a:solidFill>
                  <a:srgbClr val="F3F0FF"/>
                </a:solidFill>
                <a:latin typeface="Cambria" pitchFamily="34" charset="0"/>
                <a:ea typeface="Cambria" pitchFamily="34" charset="-122"/>
                <a:cs typeface="Cambria" pitchFamily="34" charset="-120"/>
              </a:rPr>
              <a:t>= X</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The secret sauce: interference</a:t>
            </a:r>
            <a:endParaRPr lang="en-US" sz="3600" dirty="0"/>
          </a:p>
        </p:txBody>
      </p:sp>
      <p:pic>
        <p:nvPicPr>
          <p:cNvPr id="3" name="Image 0" descr="/private/tmp/claude-501/-Users-sama-teyha-repos-coding-dojo-schroedingers-depot/08894b76-43ad-40b2-8d8d-4e13e55cf558/scratchpad/deck/img/waves.png">    </p:cNvPr>
          <p:cNvPicPr>
            <a:picLocks noChangeAspect="1"/>
          </p:cNvPicPr>
          <p:nvPr/>
        </p:nvPicPr>
        <p:blipFill>
          <a:blip r:embed="rId1"/>
          <a:stretch>
            <a:fillRect/>
          </a:stretch>
        </p:blipFill>
        <p:spPr>
          <a:xfrm>
            <a:off x="548640" y="1371600"/>
            <a:ext cx="6949440" cy="2468880"/>
          </a:xfrm>
          <a:prstGeom prst="rect">
            <a:avLst/>
          </a:prstGeom>
        </p:spPr>
      </p:pic>
      <p:sp>
        <p:nvSpPr>
          <p:cNvPr id="4" name="Shape 1"/>
          <p:cNvSpPr/>
          <p:nvPr/>
        </p:nvSpPr>
        <p:spPr>
          <a:xfrm>
            <a:off x="7863840" y="1417320"/>
            <a:ext cx="3749040" cy="4846320"/>
          </a:xfrm>
          <a:prstGeom prst="roundRect">
            <a:avLst>
              <a:gd name="adj" fmla="val 3659"/>
            </a:avLst>
          </a:prstGeom>
          <a:solidFill>
            <a:srgbClr val="221D52"/>
          </a:solidFill>
          <a:ln w="12700">
            <a:solidFill>
              <a:srgbClr val="221D52"/>
            </a:solidFill>
            <a:prstDash val="solid"/>
          </a:ln>
        </p:spPr>
      </p:sp>
      <p:sp>
        <p:nvSpPr>
          <p:cNvPr id="5" name="Text 2"/>
          <p:cNvSpPr txBox="1"/>
          <p:nvPr/>
        </p:nvSpPr>
        <p:spPr>
          <a:xfrm>
            <a:off x="8138160" y="1645920"/>
            <a:ext cx="3291840" cy="365760"/>
          </a:xfrm>
          <a:prstGeom prst="rect">
            <a:avLst/>
          </a:prstGeom>
          <a:noFill/>
          <a:ln/>
        </p:spPr>
        <p:txBody>
          <a:bodyPr wrap="square" lIns="0" tIns="0" rIns="0" bIns="0" rtlCol="0" anchor="t"/>
          <a:lstStyle/>
          <a:p>
            <a:pPr indent="0" marL="0">
              <a:buNone/>
            </a:pPr>
            <a:r>
              <a:rPr lang="en-US" sz="1400" b="1" dirty="0">
                <a:solidFill>
                  <a:srgbClr val="FF4FA3"/>
                </a:solidFill>
                <a:latin typeface="Calibri" pitchFamily="34" charset="0"/>
                <a:ea typeface="Calibri" pitchFamily="34" charset="-122"/>
                <a:cs typeface="Calibri" pitchFamily="34" charset="-120"/>
              </a:rPr>
              <a:t>The myth</a:t>
            </a:r>
            <a:endParaRPr lang="en-US" sz="1400" dirty="0"/>
          </a:p>
        </p:txBody>
      </p:sp>
      <p:sp>
        <p:nvSpPr>
          <p:cNvPr id="6" name="Text 3"/>
          <p:cNvSpPr txBox="1"/>
          <p:nvPr/>
        </p:nvSpPr>
        <p:spPr>
          <a:xfrm>
            <a:off x="8138160" y="2011680"/>
            <a:ext cx="3291840" cy="1005840"/>
          </a:xfrm>
          <a:prstGeom prst="rect">
            <a:avLst/>
          </a:prstGeom>
          <a:noFill/>
          <a:ln/>
        </p:spPr>
        <p:txBody>
          <a:bodyPr wrap="square" lIns="0" tIns="0" rIns="0" bIns="0" rtlCol="0" anchor="t"/>
          <a:lstStyle/>
          <a:p>
            <a:pPr indent="0" marL="0">
              <a:buNone/>
            </a:pPr>
            <a:r>
              <a:rPr lang="en-US" sz="1700" i="1" dirty="0">
                <a:solidFill>
                  <a:srgbClr val="F3F0FF"/>
                </a:solidFill>
                <a:latin typeface="Calibri" pitchFamily="34" charset="0"/>
                <a:ea typeface="Calibri" pitchFamily="34" charset="-122"/>
                <a:cs typeface="Calibri" pitchFamily="34" charset="-120"/>
              </a:rPr>
              <a:t>“A quantum computer tries every answer at once.”</a:t>
            </a:r>
            <a:endParaRPr lang="en-US" sz="1700" dirty="0"/>
          </a:p>
        </p:txBody>
      </p:sp>
      <p:sp>
        <p:nvSpPr>
          <p:cNvPr id="7" name="Text 4"/>
          <p:cNvSpPr txBox="1"/>
          <p:nvPr/>
        </p:nvSpPr>
        <p:spPr>
          <a:xfrm>
            <a:off x="8138160" y="3200400"/>
            <a:ext cx="3291840" cy="365760"/>
          </a:xfrm>
          <a:prstGeom prst="rect">
            <a:avLst/>
          </a:prstGeom>
          <a:noFill/>
          <a:ln/>
        </p:spPr>
        <p:txBody>
          <a:bodyPr wrap="square" lIns="0" tIns="0" rIns="0" bIns="0" rtlCol="0" anchor="t"/>
          <a:lstStyle/>
          <a:p>
            <a:pPr indent="0" marL="0">
              <a:buNone/>
            </a:pPr>
            <a:r>
              <a:rPr lang="en-US" sz="1400" b="1" dirty="0">
                <a:solidFill>
                  <a:srgbClr val="2EE6D6"/>
                </a:solidFill>
                <a:latin typeface="Calibri" pitchFamily="34" charset="0"/>
                <a:ea typeface="Calibri" pitchFamily="34" charset="-122"/>
                <a:cs typeface="Calibri" pitchFamily="34" charset="-120"/>
              </a:rPr>
              <a:t>The truth</a:t>
            </a:r>
            <a:endParaRPr lang="en-US" sz="1400" dirty="0"/>
          </a:p>
        </p:txBody>
      </p:sp>
      <p:sp>
        <p:nvSpPr>
          <p:cNvPr id="8" name="Text 5"/>
          <p:cNvSpPr txBox="1"/>
          <p:nvPr/>
        </p:nvSpPr>
        <p:spPr>
          <a:xfrm>
            <a:off x="8138160" y="3566160"/>
            <a:ext cx="3291840" cy="2377440"/>
          </a:xfrm>
          <a:prstGeom prst="rect">
            <a:avLst/>
          </a:prstGeom>
          <a:noFill/>
          <a:ln/>
        </p:spPr>
        <p:txBody>
          <a:bodyPr wrap="square" lIns="0" tIns="0" rIns="0" bIns="0" rtlCol="0" anchor="t"/>
          <a:lstStyle/>
          <a:p>
            <a:pPr indent="0" marL="0">
              <a:buNone/>
            </a:pPr>
            <a:r>
              <a:rPr lang="en-US" sz="1700" dirty="0">
                <a:solidFill>
                  <a:srgbClr val="F3F0FF"/>
                </a:solidFill>
                <a:latin typeface="Calibri" pitchFamily="34" charset="0"/>
                <a:ea typeface="Calibri" pitchFamily="34" charset="-122"/>
                <a:cs typeface="Calibri" pitchFamily="34" charset="-120"/>
              </a:rPr>
              <a:t>Qubit weights behave like waves. Arrange the hidden signs so the wrong answers cancel and the right one adds up. Then measure.</a:t>
            </a:r>
            <a:endParaRPr lang="en-US" sz="1700" dirty="0"/>
          </a:p>
        </p:txBody>
      </p:sp>
      <p:sp>
        <p:nvSpPr>
          <p:cNvPr id="9" name="Text 6"/>
          <p:cNvSpPr txBox="1"/>
          <p:nvPr/>
        </p:nvSpPr>
        <p:spPr>
          <a:xfrm>
            <a:off x="548640" y="4251960"/>
            <a:ext cx="6949440" cy="1097280"/>
          </a:xfrm>
          <a:prstGeom prst="rect">
            <a:avLst/>
          </a:prstGeom>
          <a:noFill/>
          <a:ln/>
        </p:spPr>
        <p:txBody>
          <a:bodyPr wrap="square" lIns="0" tIns="0" rIns="0" bIns="0" rtlCol="0" anchor="t"/>
          <a:lstStyle/>
          <a:p>
            <a:pPr indent="0" marL="0">
              <a:buNone/>
            </a:pPr>
            <a:r>
              <a:rPr lang="en-US" sz="1800" b="1" dirty="0">
                <a:solidFill>
                  <a:srgbClr val="FFC24B"/>
                </a:solidFill>
                <a:latin typeface="Calibri" pitchFamily="34" charset="0"/>
                <a:ea typeface="Calibri" pitchFamily="34" charset="-122"/>
                <a:cs typeface="Calibri" pitchFamily="34" charset="-120"/>
              </a:rPr>
              <a:t>That's why Z and S matter. </a:t>
            </a:r>
            <a:pPr indent="0" marL="0">
              <a:buNone/>
            </a:pPr>
            <a:r>
              <a:rPr lang="en-US" sz="1800" dirty="0">
                <a:solidFill>
                  <a:srgbClr val="F3F0FF"/>
                </a:solidFill>
                <a:latin typeface="Calibri" pitchFamily="34" charset="0"/>
                <a:ea typeface="Calibri" pitchFamily="34" charset="-122"/>
                <a:cs typeface="Calibri" pitchFamily="34" charset="-120"/>
              </a:rPr>
              <a:t>They flip or turn the hidden sign, which decides whether two paths add or cancel.</a:t>
            </a:r>
            <a:endParaRPr lang="en-US" sz="1800" dirty="0"/>
          </a:p>
        </p:txBody>
      </p:sp>
      <p:sp>
        <p:nvSpPr>
          <p:cNvPr id="10" name="Text 7"/>
          <p:cNvSpPr txBox="1"/>
          <p:nvPr/>
        </p:nvSpPr>
        <p:spPr>
          <a:xfrm>
            <a:off x="548640" y="5577840"/>
            <a:ext cx="6949440" cy="457200"/>
          </a:xfrm>
          <a:prstGeom prst="rect">
            <a:avLst/>
          </a:prstGeom>
          <a:noFill/>
          <a:ln/>
        </p:spPr>
        <p:txBody>
          <a:bodyPr wrap="square" lIns="0" tIns="0" rIns="0" bIns="0" rtlCol="0" anchor="t"/>
          <a:lstStyle/>
          <a:p>
            <a:pPr indent="0" marL="0">
              <a:buNone/>
            </a:pPr>
            <a:r>
              <a:rPr lang="en-US" sz="1600" i="1" dirty="0">
                <a:solidFill>
                  <a:srgbClr val="A9A3D6"/>
                </a:solidFill>
                <a:latin typeface="Calibri" pitchFamily="34" charset="0"/>
                <a:ea typeface="Calibri" pitchFamily="34" charset="-122"/>
                <a:cs typeface="Calibri" pitchFamily="34" charset="-120"/>
              </a:rPr>
              <a:t>Every algorithm in this deck is this trick in disguise.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Entanglement: two coins, one answer</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4</a:t>
            </a:r>
            <a:endParaRPr lang="en-US" sz="1400" dirty="0"/>
          </a:p>
        </p:txBody>
      </p:sp>
      <p:pic>
        <p:nvPicPr>
          <p:cNvPr id="5" name="Image 0" descr="/private/tmp/claude-501/-Users-sama-teyha-repos-coding-dojo-schroedingers-depot/08894b76-43ad-40b2-8d8d-4e13e55cf558/scratchpad/deck/img/entangle.png">    </p:cNvPr>
          <p:cNvPicPr>
            <a:picLocks noChangeAspect="1"/>
          </p:cNvPicPr>
          <p:nvPr/>
        </p:nvPicPr>
        <p:blipFill>
          <a:blip r:embed="rId1"/>
          <a:stretch>
            <a:fillRect/>
          </a:stretch>
        </p:blipFill>
        <p:spPr>
          <a:xfrm>
            <a:off x="457200" y="1325880"/>
            <a:ext cx="6766560" cy="2706624"/>
          </a:xfrm>
          <a:prstGeom prst="rect">
            <a:avLst/>
          </a:prstGeom>
        </p:spPr>
      </p:pic>
      <p:sp>
        <p:nvSpPr>
          <p:cNvPr id="6" name="Text 3"/>
          <p:cNvSpPr txBox="1"/>
          <p:nvPr/>
        </p:nvSpPr>
        <p:spPr>
          <a:xfrm>
            <a:off x="548640" y="4297680"/>
            <a:ext cx="3108960" cy="365760"/>
          </a:xfrm>
          <a:prstGeom prst="rect">
            <a:avLst/>
          </a:prstGeom>
          <a:noFill/>
          <a:ln/>
        </p:spPr>
        <p:txBody>
          <a:bodyPr wrap="square" lIns="0" tIns="0" rIns="0" bIns="0" rtlCol="0" anchor="t"/>
          <a:lstStyle/>
          <a:p>
            <a:pPr indent="0" marL="0">
              <a:buNone/>
            </a:pPr>
            <a:r>
              <a:rPr lang="en-US" sz="1600" dirty="0">
                <a:solidFill>
                  <a:srgbClr val="A9A3D6"/>
                </a:solidFill>
                <a:latin typeface="Calibri" pitchFamily="34" charset="0"/>
                <a:ea typeface="Calibri" pitchFamily="34" charset="-122"/>
                <a:cs typeface="Calibri" pitchFamily="34" charset="-120"/>
              </a:rPr>
              <a:t>The recipe is just two gates:</a:t>
            </a:r>
            <a:endParaRPr lang="en-US" sz="1600" dirty="0"/>
          </a:p>
        </p:txBody>
      </p:sp>
      <p:pic>
        <p:nvPicPr>
          <p:cNvPr id="7" name="Image 1" descr="/private/tmp/claude-501/-Users-sama-teyha-repos-coding-dojo-schroedingers-depot/08894b76-43ad-40b2-8d8d-4e13e55cf558/scratchpad/deck/img/bell_circuit.png">    </p:cNvPr>
          <p:cNvPicPr>
            <a:picLocks noChangeAspect="1"/>
          </p:cNvPicPr>
          <p:nvPr/>
        </p:nvPicPr>
        <p:blipFill>
          <a:blip r:embed="rId2"/>
          <a:stretch>
            <a:fillRect/>
          </a:stretch>
        </p:blipFill>
        <p:spPr>
          <a:xfrm>
            <a:off x="548640" y="4709160"/>
            <a:ext cx="2194560" cy="1527048"/>
          </a:xfrm>
          <a:prstGeom prst="rect">
            <a:avLst/>
          </a:prstGeom>
        </p:spPr>
      </p:pic>
      <p:sp>
        <p:nvSpPr>
          <p:cNvPr id="8" name="Text 4"/>
          <p:cNvSpPr txBox="1"/>
          <p:nvPr/>
        </p:nvSpPr>
        <p:spPr>
          <a:xfrm>
            <a:off x="3017520" y="4754880"/>
            <a:ext cx="4114800" cy="1463040"/>
          </a:xfrm>
          <a:prstGeom prst="rect">
            <a:avLst/>
          </a:prstGeom>
          <a:noFill/>
          <a:ln/>
        </p:spPr>
        <p:txBody>
          <a:bodyPr wrap="square" lIns="0" tIns="0" rIns="0" bIns="0" rtlCol="0" anchor="t"/>
          <a:lstStyle/>
          <a:p>
            <a:pPr indent="0" marL="0">
              <a:buNone/>
            </a:pPr>
            <a:r>
              <a:rPr lang="en-US" sz="1600" b="1" dirty="0">
                <a:solidFill>
                  <a:srgbClr val="FF4FA3"/>
                </a:solidFill>
                <a:latin typeface="Calibri" pitchFamily="34" charset="0"/>
                <a:ea typeface="Calibri" pitchFamily="34" charset="-122"/>
                <a:cs typeface="Calibri" pitchFamily="34" charset="-120"/>
              </a:rPr>
              <a:t>H</a:t>
            </a:r>
            <a:pPr indent="0" marL="0">
              <a:buNone/>
            </a:pPr>
            <a:r>
              <a:rPr lang="en-US" sz="1600" dirty="0">
                <a:solidFill>
                  <a:srgbClr val="F3F0FF"/>
                </a:solidFill>
                <a:latin typeface="Calibri" pitchFamily="34" charset="0"/>
                <a:ea typeface="Calibri" pitchFamily="34" charset="-122"/>
                <a:cs typeface="Calibri" pitchFamily="34" charset="-120"/>
              </a:rPr>
              <a:t> blends qubit 0.</a:t>
            </a:r>
            <a:endParaRPr lang="en-US" sz="1600" dirty="0"/>
          </a:p>
          <a:p>
            <a:pPr indent="0" marL="0">
              <a:buNone/>
            </a:pPr>
            <a:r>
              <a:rPr lang="en-US" sz="1600" b="1" dirty="0">
                <a:solidFill>
                  <a:srgbClr val="2EE6D6"/>
                </a:solidFill>
                <a:latin typeface="Calibri" pitchFamily="34" charset="0"/>
                <a:ea typeface="Calibri" pitchFamily="34" charset="-122"/>
                <a:cs typeface="Calibri" pitchFamily="34" charset="-120"/>
              </a:rPr>
              <a:t>CX</a:t>
            </a:r>
            <a:pPr indent="0" marL="0">
              <a:buNone/>
            </a:pPr>
            <a:r>
              <a:rPr lang="en-US" sz="1600" dirty="0">
                <a:solidFill>
                  <a:srgbClr val="F3F0FF"/>
                </a:solidFill>
                <a:latin typeface="Calibri" pitchFamily="34" charset="0"/>
                <a:ea typeface="Calibri" pitchFamily="34" charset="-122"/>
                <a:cs typeface="Calibri" pitchFamily="34" charset="-120"/>
              </a:rPr>
              <a:t> copies that blend onto qubit 1.</a:t>
            </a:r>
            <a:endParaRPr lang="en-US" sz="1600" dirty="0"/>
          </a:p>
          <a:p>
            <a:pPr indent="0" marL="0">
              <a:buNone/>
            </a:pPr>
            <a:r>
              <a:rPr lang="en-US" sz="1600" dirty="0">
                <a:solidFill>
                  <a:srgbClr val="FFC24B"/>
                </a:solidFill>
                <a:latin typeface="Calibri" pitchFamily="34" charset="0"/>
                <a:ea typeface="Calibri" pitchFamily="34" charset="-122"/>
                <a:cs typeface="Calibri" pitchFamily="34" charset="-120"/>
              </a:rPr>
              <a:t>Now they're a single “Bell pair”.</a:t>
            </a:r>
            <a:endParaRPr lang="en-US" sz="1600" dirty="0"/>
          </a:p>
        </p:txBody>
      </p:sp>
      <p:graphicFrame>
        <p:nvGraphicFramePr>
          <p:cNvPr id="9" name="Chart 0" descr=""/>
          <p:cNvGraphicFramePr/>
          <p:nvPr/>
        </p:nvGraphicFramePr>
        <p:xfrm>
          <a:off x="7498080" y="1417320"/>
          <a:ext cx="4206240" cy="4206240"/>
        </p:xfrm>
        <a:graphic xmlns:a="http://schemas.openxmlformats.org/drawingml/2006/main">
          <a:graphicData uri="http://schemas.openxmlformats.org/drawingml/2006/chart">
            <c:chart xmlns:c="http://schemas.openxmlformats.org/drawingml/2006/chart" r:id="rId3"/>
          </a:graphicData>
        </a:graphic>
      </p:graphicFrame>
      <p:sp>
        <p:nvSpPr>
          <p:cNvPr id="10" name="Text 5"/>
          <p:cNvSpPr txBox="1"/>
          <p:nvPr/>
        </p:nvSpPr>
        <p:spPr>
          <a:xfrm>
            <a:off x="7498080" y="5760720"/>
            <a:ext cx="4206240" cy="457200"/>
          </a:xfrm>
          <a:prstGeom prst="rect">
            <a:avLst/>
          </a:prstGeom>
          <a:noFill/>
          <a:ln/>
        </p:spPr>
        <p:txBody>
          <a:bodyPr wrap="square" lIns="0" tIns="0" rIns="0" bIns="0" rtlCol="0" anchor="t"/>
          <a:lstStyle/>
          <a:p>
            <a:pPr algn="ctr" indent="0" marL="0">
              <a:buNone/>
            </a:pPr>
            <a:r>
              <a:rPr lang="en-US" sz="1400" i="1" dirty="0">
                <a:solidFill>
                  <a:srgbClr val="A9A3D6"/>
                </a:solidFill>
                <a:latin typeface="Calibri" pitchFamily="34" charset="0"/>
                <a:ea typeface="Calibri" pitchFamily="34" charset="-122"/>
                <a:cs typeface="Calibri" pitchFamily="34" charset="-120"/>
              </a:rPr>
              <a:t>Never 01 or 10: they always agree.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Grover's search: find the prize faster</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Katas 5–6</a:t>
            </a:r>
            <a:endParaRPr lang="en-US" sz="1400" dirty="0"/>
          </a:p>
        </p:txBody>
      </p:sp>
      <p:pic>
        <p:nvPicPr>
          <p:cNvPr id="5" name="Image 0" descr="/private/tmp/claude-501/-Users-sama-teyha-repos-coding-dojo-schroedingers-depot/08894b76-43ad-40b2-8d8d-4e13e55cf558/scratchpad/deck/img/boxes.png">    </p:cNvPr>
          <p:cNvPicPr>
            <a:picLocks noChangeAspect="1"/>
          </p:cNvPicPr>
          <p:nvPr/>
        </p:nvPicPr>
        <p:blipFill>
          <a:blip r:embed="rId1"/>
          <a:stretch>
            <a:fillRect/>
          </a:stretch>
        </p:blipFill>
        <p:spPr>
          <a:xfrm>
            <a:off x="548640" y="1280160"/>
            <a:ext cx="6583680" cy="1755648"/>
          </a:xfrm>
          <a:prstGeom prst="rect">
            <a:avLst/>
          </a:prstGeom>
        </p:spPr>
      </p:pic>
      <p:sp>
        <p:nvSpPr>
          <p:cNvPr id="6" name="Shape 3"/>
          <p:cNvSpPr/>
          <p:nvPr/>
        </p:nvSpPr>
        <p:spPr>
          <a:xfrm>
            <a:off x="548640" y="3291840"/>
            <a:ext cx="6583680" cy="2377440"/>
          </a:xfrm>
          <a:prstGeom prst="roundRect">
            <a:avLst>
              <a:gd name="adj" fmla="val 5769"/>
            </a:avLst>
          </a:prstGeom>
          <a:solidFill>
            <a:srgbClr val="221D52"/>
          </a:solidFill>
          <a:ln w="12700">
            <a:solidFill>
              <a:srgbClr val="221D52"/>
            </a:solidFill>
            <a:prstDash val="solid"/>
          </a:ln>
        </p:spPr>
      </p:sp>
      <p:sp>
        <p:nvSpPr>
          <p:cNvPr id="7" name="Text 4"/>
          <p:cNvSpPr txBox="1"/>
          <p:nvPr/>
        </p:nvSpPr>
        <p:spPr>
          <a:xfrm>
            <a:off x="822960" y="3520440"/>
            <a:ext cx="6035040" cy="2651760"/>
          </a:xfrm>
          <a:prstGeom prst="rect">
            <a:avLst/>
          </a:prstGeom>
          <a:noFill/>
          <a:ln/>
        </p:spPr>
        <p:txBody>
          <a:bodyPr wrap="square" lIns="0" tIns="0" rIns="0" bIns="0" rtlCol="0" anchor="t"/>
          <a:lstStyle/>
          <a:p>
            <a:pPr indent="0" marL="0">
              <a:spcAft>
                <a:spcPts val="800"/>
              </a:spcAft>
              <a:buNone/>
            </a:pPr>
            <a:r>
              <a:rPr lang="en-US" sz="1700" b="1" dirty="0">
                <a:solidFill>
                  <a:srgbClr val="2EE6D6"/>
                </a:solidFill>
                <a:latin typeface="Calibri" pitchFamily="34" charset="0"/>
                <a:ea typeface="Calibri" pitchFamily="34" charset="-122"/>
                <a:cs typeface="Calibri" pitchFamily="34" charset="-120"/>
              </a:rPr>
              <a:t>1. Blend</a:t>
            </a:r>
            <a:pPr indent="0" marL="0">
              <a:spcAft>
                <a:spcPts val="800"/>
              </a:spcAft>
              <a:buNone/>
            </a:pPr>
            <a:r>
              <a:rPr lang="en-US" sz="1700" dirty="0">
                <a:solidFill>
                  <a:srgbClr val="F3F0FF"/>
                </a:solidFill>
                <a:latin typeface="Calibri" pitchFamily="34" charset="0"/>
                <a:ea typeface="Calibri" pitchFamily="34" charset="-122"/>
                <a:cs typeface="Calibri" pitchFamily="34" charset="-120"/>
              </a:rPr>
              <a:t> all 8 boxes (12.5% each).</a:t>
            </a:r>
            <a:endParaRPr lang="en-US" sz="1700" dirty="0"/>
          </a:p>
          <a:p>
            <a:pPr indent="0" marL="0">
              <a:spcAft>
                <a:spcPts val="800"/>
              </a:spcAft>
              <a:buNone/>
            </a:pPr>
            <a:r>
              <a:rPr lang="en-US" sz="1700" b="1" dirty="0">
                <a:solidFill>
                  <a:srgbClr val="FF4FA3"/>
                </a:solidFill>
                <a:latin typeface="Calibri" pitchFamily="34" charset="0"/>
                <a:ea typeface="Calibri" pitchFamily="34" charset="-122"/>
                <a:cs typeface="Calibri" pitchFamily="34" charset="-120"/>
              </a:rPr>
              <a:t>2. Oracle</a:t>
            </a:r>
            <a:pPr indent="0" marL="0">
              <a:spcAft>
                <a:spcPts val="800"/>
              </a:spcAft>
              <a:buNone/>
            </a:pPr>
            <a:r>
              <a:rPr lang="en-US" sz="1700" dirty="0">
                <a:solidFill>
                  <a:srgbClr val="F3F0FF"/>
                </a:solidFill>
                <a:latin typeface="Calibri" pitchFamily="34" charset="0"/>
                <a:ea typeface="Calibri" pitchFamily="34" charset="-122"/>
                <a:cs typeface="Calibri" pitchFamily="34" charset="-120"/>
              </a:rPr>
              <a:t> puts a hidden minus sign on the prize.</a:t>
            </a:r>
            <a:endParaRPr lang="en-US" sz="1700" dirty="0"/>
          </a:p>
          <a:p>
            <a:pPr indent="0" marL="0">
              <a:spcAft>
                <a:spcPts val="800"/>
              </a:spcAft>
              <a:buNone/>
            </a:pPr>
            <a:r>
              <a:rPr lang="en-US" sz="1700" b="1" dirty="0">
                <a:solidFill>
                  <a:srgbClr val="FFC24B"/>
                </a:solidFill>
                <a:latin typeface="Calibri" pitchFamily="34" charset="0"/>
                <a:ea typeface="Calibri" pitchFamily="34" charset="-122"/>
                <a:cs typeface="Calibri" pitchFamily="34" charset="-120"/>
              </a:rPr>
              <a:t>3. Diffuser</a:t>
            </a:r>
            <a:pPr indent="0" marL="0">
              <a:spcAft>
                <a:spcPts val="800"/>
              </a:spcAft>
              <a:buNone/>
            </a:pPr>
            <a:r>
              <a:rPr lang="en-US" sz="1700" dirty="0">
                <a:solidFill>
                  <a:srgbClr val="F3F0FF"/>
                </a:solidFill>
                <a:latin typeface="Calibri" pitchFamily="34" charset="0"/>
                <a:ea typeface="Calibri" pitchFamily="34" charset="-122"/>
                <a:cs typeface="Calibri" pitchFamily="34" charset="-120"/>
              </a:rPr>
              <a:t> uses interference to turn that sign into a bigger weight.</a:t>
            </a:r>
            <a:endParaRPr lang="en-US" sz="1700" dirty="0"/>
          </a:p>
          <a:p>
            <a:pPr indent="0" marL="0">
              <a:spcAft>
                <a:spcPts val="800"/>
              </a:spcAft>
              <a:buNone/>
            </a:pPr>
            <a:r>
              <a:rPr lang="en-US" sz="1700" dirty="0">
                <a:solidFill>
                  <a:srgbClr val="A9A3D6"/>
                </a:solidFill>
                <a:latin typeface="Calibri" pitchFamily="34" charset="0"/>
                <a:ea typeface="Calibri" pitchFamily="34" charset="-122"/>
                <a:cs typeface="Calibri" pitchFamily="34" charset="-120"/>
              </a:rPr>
              <a:t>Repeat 2–3 the right number of times, then open one box.</a:t>
            </a:r>
            <a:endParaRPr lang="en-US" sz="1700" dirty="0"/>
          </a:p>
        </p:txBody>
      </p:sp>
      <p:graphicFrame>
        <p:nvGraphicFramePr>
          <p:cNvPr id="8" name="Chart 0" descr=""/>
          <p:cNvGraphicFramePr/>
          <p:nvPr/>
        </p:nvGraphicFramePr>
        <p:xfrm>
          <a:off x="7406640" y="1280160"/>
          <a:ext cx="4297680" cy="43891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7406640" y="5806440"/>
            <a:ext cx="4297680" cy="457200"/>
          </a:xfrm>
          <a:prstGeom prst="rect">
            <a:avLst/>
          </a:prstGeom>
          <a:noFill/>
          <a:ln/>
        </p:spPr>
        <p:txBody>
          <a:bodyPr wrap="square" lIns="0" tIns="0" rIns="0" bIns="0" rtlCol="0" anchor="t"/>
          <a:lstStyle/>
          <a:p>
            <a:pPr algn="ctr" indent="0" marL="0">
              <a:buNone/>
            </a:pPr>
            <a:r>
              <a:rPr lang="en-US" sz="1500" b="1" dirty="0">
                <a:solidFill>
                  <a:srgbClr val="FF4FA3"/>
                </a:solidFill>
                <a:latin typeface="Calibri" pitchFamily="34" charset="0"/>
                <a:ea typeface="Calibri" pitchFamily="34" charset="-122"/>
                <a:cs typeface="Calibri" pitchFamily="34" charset="-120"/>
              </a:rPr>
              <a:t>Too many rounds overshoots!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Real quantum chips are noisy</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7</a:t>
            </a:r>
            <a:endParaRPr lang="en-US" sz="1400" dirty="0"/>
          </a:p>
        </p:txBody>
      </p:sp>
      <p:pic>
        <p:nvPicPr>
          <p:cNvPr id="5" name="Image 0" descr="/private/tmp/claude-501/-Users-sama-teyha-repos-coding-dojo-schroedingers-depot/08894b76-43ad-40b2-8d8d-4e13e55cf558/scratchpad/deck/img/noise.png">    </p:cNvPr>
          <p:cNvPicPr>
            <a:picLocks noChangeAspect="1"/>
          </p:cNvPicPr>
          <p:nvPr/>
        </p:nvPicPr>
        <p:blipFill>
          <a:blip r:embed="rId1"/>
          <a:stretch>
            <a:fillRect/>
          </a:stretch>
        </p:blipFill>
        <p:spPr>
          <a:xfrm>
            <a:off x="548640" y="1371600"/>
            <a:ext cx="6766560" cy="2194560"/>
          </a:xfrm>
          <a:prstGeom prst="rect">
            <a:avLst/>
          </a:prstGeom>
        </p:spPr>
      </p:pic>
      <p:sp>
        <p:nvSpPr>
          <p:cNvPr id="6" name="Shape 3"/>
          <p:cNvSpPr/>
          <p:nvPr/>
        </p:nvSpPr>
        <p:spPr>
          <a:xfrm>
            <a:off x="548640" y="3931920"/>
            <a:ext cx="6766560" cy="1920240"/>
          </a:xfrm>
          <a:prstGeom prst="roundRect">
            <a:avLst>
              <a:gd name="adj" fmla="val 7143"/>
            </a:avLst>
          </a:prstGeom>
          <a:solidFill>
            <a:srgbClr val="221D52"/>
          </a:solidFill>
          <a:ln w="12700">
            <a:solidFill>
              <a:srgbClr val="221D52"/>
            </a:solidFill>
            <a:prstDash val="solid"/>
          </a:ln>
        </p:spPr>
      </p:sp>
      <p:sp>
        <p:nvSpPr>
          <p:cNvPr id="7" name="Text 4"/>
          <p:cNvSpPr txBox="1"/>
          <p:nvPr/>
        </p:nvSpPr>
        <p:spPr>
          <a:xfrm>
            <a:off x="822960" y="4160520"/>
            <a:ext cx="6217920" cy="2011680"/>
          </a:xfrm>
          <a:prstGeom prst="rect">
            <a:avLst/>
          </a:prstGeom>
          <a:noFill/>
          <a:ln/>
        </p:spPr>
        <p:txBody>
          <a:bodyPr wrap="square" lIns="0" tIns="0" rIns="0" bIns="0" rtlCol="0" anchor="t"/>
          <a:lstStyle/>
          <a:p>
            <a:pPr indent="0" marL="0">
              <a:spcAft>
                <a:spcPts val="600"/>
              </a:spcAft>
              <a:buNone/>
            </a:pPr>
            <a:r>
              <a:rPr lang="en-US" sz="1700" b="1" dirty="0">
                <a:solidFill>
                  <a:srgbClr val="FFC24B"/>
                </a:solidFill>
                <a:latin typeface="Calibri" pitchFamily="34" charset="0"/>
                <a:ea typeface="Calibri" pitchFamily="34" charset="-122"/>
                <a:cs typeface="Calibri" pitchFamily="34" charset="-120"/>
              </a:rPr>
              <a:t>Same Grover circuit, two machines.</a:t>
            </a:r>
            <a:endParaRPr lang="en-US" sz="1700" dirty="0"/>
          </a:p>
          <a:p>
            <a:pPr indent="0" marL="0">
              <a:spcAft>
                <a:spcPts val="600"/>
              </a:spcAft>
              <a:buNone/>
            </a:pPr>
            <a:r>
              <a:rPr lang="en-US" sz="1700" dirty="0">
                <a:solidFill>
                  <a:srgbClr val="F3F0FF"/>
                </a:solidFill>
                <a:latin typeface="Calibri" pitchFamily="34" charset="0"/>
                <a:ea typeface="Calibri" pitchFamily="34" charset="-122"/>
                <a:cs typeface="Calibri" pitchFamily="34" charset="-120"/>
              </a:rPr>
              <a:t>A real chip only knows a few basic gates and only lets some qubits talk to each other. Translating our 22 neat gates for IBM's Brisbane chip made 281, and every gate adds a little error.</a:t>
            </a:r>
            <a:endParaRPr lang="en-US" sz="1700" dirty="0"/>
          </a:p>
        </p:txBody>
      </p:sp>
      <p:sp>
        <p:nvSpPr>
          <p:cNvPr id="8" name="Text 5"/>
          <p:cNvSpPr txBox="1"/>
          <p:nvPr/>
        </p:nvSpPr>
        <p:spPr>
          <a:xfrm>
            <a:off x="7863840" y="1280160"/>
            <a:ext cx="3840480" cy="868680"/>
          </a:xfrm>
          <a:prstGeom prst="rect">
            <a:avLst/>
          </a:prstGeom>
          <a:noFill/>
          <a:ln/>
        </p:spPr>
        <p:txBody>
          <a:bodyPr wrap="square" lIns="0" tIns="0" rIns="0" bIns="0" rtlCol="0" anchor="b"/>
          <a:lstStyle/>
          <a:p>
            <a:pPr indent="0" marL="0">
              <a:buNone/>
            </a:pPr>
            <a:r>
              <a:rPr lang="en-US" sz="5400" b="1" dirty="0">
                <a:solidFill>
                  <a:srgbClr val="2EE6D6"/>
                </a:solidFill>
                <a:latin typeface="Cambria" pitchFamily="34" charset="0"/>
                <a:ea typeface="Cambria" pitchFamily="34" charset="-122"/>
                <a:cs typeface="Cambria" pitchFamily="34" charset="-120"/>
              </a:rPr>
              <a:t>94.5%</a:t>
            </a:r>
            <a:endParaRPr lang="en-US" sz="5400" dirty="0"/>
          </a:p>
        </p:txBody>
      </p:sp>
      <p:sp>
        <p:nvSpPr>
          <p:cNvPr id="9" name="Text 6"/>
          <p:cNvSpPr txBox="1"/>
          <p:nvPr/>
        </p:nvSpPr>
        <p:spPr>
          <a:xfrm>
            <a:off x="7863840" y="2194560"/>
            <a:ext cx="384048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found the prize on a perfect simulator</a:t>
            </a:r>
            <a:endParaRPr lang="en-US" sz="1400" dirty="0"/>
          </a:p>
        </p:txBody>
      </p:sp>
      <p:sp>
        <p:nvSpPr>
          <p:cNvPr id="10" name="Text 7"/>
          <p:cNvSpPr txBox="1"/>
          <p:nvPr/>
        </p:nvSpPr>
        <p:spPr>
          <a:xfrm>
            <a:off x="7863840" y="2926080"/>
            <a:ext cx="3840480" cy="868680"/>
          </a:xfrm>
          <a:prstGeom prst="rect">
            <a:avLst/>
          </a:prstGeom>
          <a:noFill/>
          <a:ln/>
        </p:spPr>
        <p:txBody>
          <a:bodyPr wrap="square" lIns="0" tIns="0" rIns="0" bIns="0" rtlCol="0" anchor="b"/>
          <a:lstStyle/>
          <a:p>
            <a:pPr indent="0" marL="0">
              <a:buNone/>
            </a:pPr>
            <a:r>
              <a:rPr lang="en-US" sz="5400" b="1" dirty="0">
                <a:solidFill>
                  <a:srgbClr val="FF4FA3"/>
                </a:solidFill>
                <a:latin typeface="Cambria" pitchFamily="34" charset="0"/>
                <a:ea typeface="Cambria" pitchFamily="34" charset="-122"/>
                <a:cs typeface="Cambria" pitchFamily="34" charset="-120"/>
              </a:rPr>
              <a:t>66.8%</a:t>
            </a:r>
            <a:endParaRPr lang="en-US" sz="5400" dirty="0"/>
          </a:p>
        </p:txBody>
      </p:sp>
      <p:sp>
        <p:nvSpPr>
          <p:cNvPr id="11" name="Text 8"/>
          <p:cNvSpPr txBox="1"/>
          <p:nvPr/>
        </p:nvSpPr>
        <p:spPr>
          <a:xfrm>
            <a:off x="7863840" y="3840480"/>
            <a:ext cx="384048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on a copy of a real IBM chip (FakeBrisbane)</a:t>
            </a:r>
            <a:endParaRPr lang="en-US" sz="1400" dirty="0"/>
          </a:p>
        </p:txBody>
      </p:sp>
      <p:sp>
        <p:nvSpPr>
          <p:cNvPr id="12" name="Text 9"/>
          <p:cNvSpPr txBox="1"/>
          <p:nvPr/>
        </p:nvSpPr>
        <p:spPr>
          <a:xfrm>
            <a:off x="7863840" y="4572000"/>
            <a:ext cx="3840480" cy="868680"/>
          </a:xfrm>
          <a:prstGeom prst="rect">
            <a:avLst/>
          </a:prstGeom>
          <a:noFill/>
          <a:ln/>
        </p:spPr>
        <p:txBody>
          <a:bodyPr wrap="square" lIns="0" tIns="0" rIns="0" bIns="0" rtlCol="0" anchor="b"/>
          <a:lstStyle/>
          <a:p>
            <a:pPr indent="0" marL="0">
              <a:buNone/>
            </a:pPr>
            <a:r>
              <a:rPr lang="en-US" sz="5400" b="1" dirty="0">
                <a:solidFill>
                  <a:srgbClr val="FFC24B"/>
                </a:solidFill>
                <a:latin typeface="Cambria" pitchFamily="34" charset="0"/>
                <a:ea typeface="Cambria" pitchFamily="34" charset="-122"/>
                <a:cs typeface="Cambria" pitchFamily="34" charset="-120"/>
              </a:rPr>
              <a:t>13×</a:t>
            </a:r>
            <a:endParaRPr lang="en-US" sz="5400" dirty="0"/>
          </a:p>
        </p:txBody>
      </p:sp>
      <p:sp>
        <p:nvSpPr>
          <p:cNvPr id="13" name="Text 10"/>
          <p:cNvSpPr txBox="1"/>
          <p:nvPr/>
        </p:nvSpPr>
        <p:spPr>
          <a:xfrm>
            <a:off x="7863840" y="5486400"/>
            <a:ext cx="384048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more gates after translating for the chip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QAOA: quantum and classical as a team</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8</a:t>
            </a:r>
            <a:endParaRPr lang="en-US" sz="1400" dirty="0"/>
          </a:p>
        </p:txBody>
      </p:sp>
      <p:pic>
        <p:nvPicPr>
          <p:cNvPr id="5" name="Image 0" descr="/private/tmp/claude-501/-Users-sama-teyha-repos-coding-dojo-schroedingers-depot/08894b76-43ad-40b2-8d8d-4e13e55cf558/scratchpad/deck/img/landscape.png">    </p:cNvPr>
          <p:cNvPicPr>
            <a:picLocks noChangeAspect="1"/>
          </p:cNvPicPr>
          <p:nvPr/>
        </p:nvPicPr>
        <p:blipFill>
          <a:blip r:embed="rId1"/>
          <a:stretch>
            <a:fillRect/>
          </a:stretch>
        </p:blipFill>
        <p:spPr>
          <a:xfrm>
            <a:off x="457200" y="1280160"/>
            <a:ext cx="6766560" cy="4736592"/>
          </a:xfrm>
          <a:prstGeom prst="rect">
            <a:avLst/>
          </a:prstGeom>
        </p:spPr>
      </p:pic>
      <p:sp>
        <p:nvSpPr>
          <p:cNvPr id="6" name="Shape 3"/>
          <p:cNvSpPr/>
          <p:nvPr/>
        </p:nvSpPr>
        <p:spPr>
          <a:xfrm>
            <a:off x="7498080" y="1371600"/>
            <a:ext cx="548640" cy="548640"/>
          </a:xfrm>
          <a:prstGeom prst="ellipse">
            <a:avLst/>
          </a:prstGeom>
          <a:solidFill>
            <a:srgbClr val="2EE6D6"/>
          </a:solidFill>
          <a:ln w="12700">
            <a:solidFill>
              <a:srgbClr val="2EE6D6"/>
            </a:solidFill>
            <a:prstDash val="solid"/>
          </a:ln>
        </p:spPr>
      </p:sp>
      <p:sp>
        <p:nvSpPr>
          <p:cNvPr id="7" name="Text 4"/>
          <p:cNvSpPr txBox="1"/>
          <p:nvPr/>
        </p:nvSpPr>
        <p:spPr>
          <a:xfrm>
            <a:off x="7498080" y="1371600"/>
            <a:ext cx="548640" cy="548640"/>
          </a:xfrm>
          <a:prstGeom prst="rect">
            <a:avLst/>
          </a:prstGeom>
          <a:noFill/>
          <a:ln/>
        </p:spPr>
        <p:txBody>
          <a:bodyPr wrap="square" lIns="0" tIns="0" rIns="0" bIns="0" rtlCol="0" anchor="ctr"/>
          <a:lstStyle/>
          <a:p>
            <a:pPr algn="ctr" indent="0" marL="0">
              <a:buNone/>
            </a:pPr>
            <a:r>
              <a:rPr lang="en-US" sz="2000" b="1" dirty="0">
                <a:solidFill>
                  <a:srgbClr val="120E2E"/>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8275320" y="1353312"/>
            <a:ext cx="3474720" cy="411480"/>
          </a:xfrm>
          <a:prstGeom prst="rect">
            <a:avLst/>
          </a:prstGeom>
          <a:noFill/>
          <a:ln/>
        </p:spPr>
        <p:txBody>
          <a:bodyPr wrap="square" lIns="0" tIns="0" rIns="0" bIns="0" rtlCol="0" anchor="t"/>
          <a:lstStyle/>
          <a:p>
            <a:pPr indent="0" marL="0">
              <a:buNone/>
            </a:pPr>
            <a:r>
              <a:rPr lang="en-US" sz="1700" b="1" dirty="0">
                <a:solidFill>
                  <a:srgbClr val="2EE6D6"/>
                </a:solidFill>
                <a:latin typeface="Calibri" pitchFamily="34" charset="0"/>
                <a:ea typeface="Calibri" pitchFamily="34" charset="-122"/>
                <a:cs typeface="Calibri" pitchFamily="34" charset="-120"/>
              </a:rPr>
              <a:t>Write the problem as a cost</a:t>
            </a:r>
            <a:endParaRPr lang="en-US" sz="1700" dirty="0"/>
          </a:p>
        </p:txBody>
      </p:sp>
      <p:sp>
        <p:nvSpPr>
          <p:cNvPr id="9" name="Text 6"/>
          <p:cNvSpPr txBox="1"/>
          <p:nvPr/>
        </p:nvSpPr>
        <p:spPr>
          <a:xfrm>
            <a:off x="8275320" y="1783080"/>
            <a:ext cx="3474720" cy="1005840"/>
          </a:xfrm>
          <a:prstGeom prst="rect">
            <a:avLst/>
          </a:prstGeom>
          <a:noFill/>
          <a:ln/>
        </p:spPr>
        <p:txBody>
          <a:bodyPr wrap="square" lIns="0" tIns="0" rIns="0" bIns="0" rtlCol="0" anchor="t"/>
          <a:lstStyle/>
          <a:p>
            <a:pPr indent="0" marL="0">
              <a:buNone/>
            </a:pPr>
            <a:r>
              <a:rPr lang="en-US" sz="1400" dirty="0">
                <a:solidFill>
                  <a:srgbClr val="F3F0FF"/>
                </a:solidFill>
                <a:latin typeface="Calibri" pitchFamily="34" charset="0"/>
                <a:ea typeface="Calibri" pitchFamily="34" charset="-122"/>
                <a:cs typeface="Calibri" pitchFamily="34" charset="-120"/>
              </a:rPr>
              <a:t>Which stocks to buy? Each yes/no is one qubit. Cost = risk − return + penalty.</a:t>
            </a:r>
            <a:endParaRPr lang="en-US" sz="1400" dirty="0"/>
          </a:p>
        </p:txBody>
      </p:sp>
      <p:sp>
        <p:nvSpPr>
          <p:cNvPr id="10" name="Shape 7"/>
          <p:cNvSpPr/>
          <p:nvPr/>
        </p:nvSpPr>
        <p:spPr>
          <a:xfrm>
            <a:off x="7498080" y="2971800"/>
            <a:ext cx="548640" cy="548640"/>
          </a:xfrm>
          <a:prstGeom prst="ellipse">
            <a:avLst/>
          </a:prstGeom>
          <a:solidFill>
            <a:srgbClr val="FF4FA3"/>
          </a:solidFill>
          <a:ln w="12700">
            <a:solidFill>
              <a:srgbClr val="FF4FA3"/>
            </a:solidFill>
            <a:prstDash val="solid"/>
          </a:ln>
        </p:spPr>
      </p:sp>
      <p:sp>
        <p:nvSpPr>
          <p:cNvPr id="11" name="Text 8"/>
          <p:cNvSpPr txBox="1"/>
          <p:nvPr/>
        </p:nvSpPr>
        <p:spPr>
          <a:xfrm>
            <a:off x="7498080" y="2971800"/>
            <a:ext cx="548640" cy="548640"/>
          </a:xfrm>
          <a:prstGeom prst="rect">
            <a:avLst/>
          </a:prstGeom>
          <a:noFill/>
          <a:ln/>
        </p:spPr>
        <p:txBody>
          <a:bodyPr wrap="square" lIns="0" tIns="0" rIns="0" bIns="0" rtlCol="0" anchor="ctr"/>
          <a:lstStyle/>
          <a:p>
            <a:pPr algn="ctr" indent="0" marL="0">
              <a:buNone/>
            </a:pPr>
            <a:r>
              <a:rPr lang="en-US" sz="2000" b="1" dirty="0">
                <a:solidFill>
                  <a:srgbClr val="120E2E"/>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8275320" y="2953512"/>
            <a:ext cx="3474720" cy="411480"/>
          </a:xfrm>
          <a:prstGeom prst="rect">
            <a:avLst/>
          </a:prstGeom>
          <a:noFill/>
          <a:ln/>
        </p:spPr>
        <p:txBody>
          <a:bodyPr wrap="square" lIns="0" tIns="0" rIns="0" bIns="0" rtlCol="0" anchor="t"/>
          <a:lstStyle/>
          <a:p>
            <a:pPr indent="0" marL="0">
              <a:buNone/>
            </a:pPr>
            <a:r>
              <a:rPr lang="en-US" sz="1700" b="1" dirty="0">
                <a:solidFill>
                  <a:srgbClr val="FF4FA3"/>
                </a:solidFill>
                <a:latin typeface="Calibri" pitchFamily="34" charset="0"/>
                <a:ea typeface="Calibri" pitchFamily="34" charset="-122"/>
                <a:cs typeface="Calibri" pitchFamily="34" charset="-120"/>
              </a:rPr>
              <a:t>Quantum circuit scores two angles</a:t>
            </a:r>
            <a:endParaRPr lang="en-US" sz="1700" dirty="0"/>
          </a:p>
        </p:txBody>
      </p:sp>
      <p:sp>
        <p:nvSpPr>
          <p:cNvPr id="13" name="Text 10"/>
          <p:cNvSpPr txBox="1"/>
          <p:nvPr/>
        </p:nvSpPr>
        <p:spPr>
          <a:xfrm>
            <a:off x="8275320" y="3383280"/>
            <a:ext cx="3474720" cy="1005840"/>
          </a:xfrm>
          <a:prstGeom prst="rect">
            <a:avLst/>
          </a:prstGeom>
          <a:noFill/>
          <a:ln/>
        </p:spPr>
        <p:txBody>
          <a:bodyPr wrap="square" lIns="0" tIns="0" rIns="0" bIns="0" rtlCol="0" anchor="t"/>
          <a:lstStyle/>
          <a:p>
            <a:pPr indent="0" marL="0">
              <a:buNone/>
            </a:pPr>
            <a:r>
              <a:rPr lang="en-US" sz="1400" dirty="0">
                <a:solidFill>
                  <a:srgbClr val="F3F0FF"/>
                </a:solidFill>
                <a:latin typeface="Calibri" pitchFamily="34" charset="0"/>
                <a:ea typeface="Calibri" pitchFamily="34" charset="-122"/>
                <a:cs typeface="Calibri" pitchFamily="34" charset="-120"/>
              </a:rPr>
              <a:t>γ turns each answer by its cost, β mixes answers so they interfere.</a:t>
            </a:r>
            <a:endParaRPr lang="en-US" sz="1400" dirty="0"/>
          </a:p>
        </p:txBody>
      </p:sp>
      <p:sp>
        <p:nvSpPr>
          <p:cNvPr id="14" name="Shape 11"/>
          <p:cNvSpPr/>
          <p:nvPr/>
        </p:nvSpPr>
        <p:spPr>
          <a:xfrm>
            <a:off x="7498080" y="4572000"/>
            <a:ext cx="548640" cy="548640"/>
          </a:xfrm>
          <a:prstGeom prst="ellipse">
            <a:avLst/>
          </a:prstGeom>
          <a:solidFill>
            <a:srgbClr val="FFC24B"/>
          </a:solidFill>
          <a:ln w="12700">
            <a:solidFill>
              <a:srgbClr val="FFC24B"/>
            </a:solidFill>
            <a:prstDash val="solid"/>
          </a:ln>
        </p:spPr>
      </p:sp>
      <p:sp>
        <p:nvSpPr>
          <p:cNvPr id="15" name="Text 12"/>
          <p:cNvSpPr txBox="1"/>
          <p:nvPr/>
        </p:nvSpPr>
        <p:spPr>
          <a:xfrm>
            <a:off x="7498080" y="4572000"/>
            <a:ext cx="548640" cy="548640"/>
          </a:xfrm>
          <a:prstGeom prst="rect">
            <a:avLst/>
          </a:prstGeom>
          <a:noFill/>
          <a:ln/>
        </p:spPr>
        <p:txBody>
          <a:bodyPr wrap="square" lIns="0" tIns="0" rIns="0" bIns="0" rtlCol="0" anchor="ctr"/>
          <a:lstStyle/>
          <a:p>
            <a:pPr algn="ctr" indent="0" marL="0">
              <a:buNone/>
            </a:pPr>
            <a:r>
              <a:rPr lang="en-US" sz="2000" b="1" dirty="0">
                <a:solidFill>
                  <a:srgbClr val="120E2E"/>
                </a:solidFill>
                <a:latin typeface="Calibri" pitchFamily="34" charset="0"/>
                <a:ea typeface="Calibri" pitchFamily="34" charset="-122"/>
                <a:cs typeface="Calibri" pitchFamily="34" charset="-120"/>
              </a:rPr>
              <a:t>3</a:t>
            </a:r>
            <a:endParaRPr lang="en-US" sz="2000" dirty="0"/>
          </a:p>
        </p:txBody>
      </p:sp>
      <p:sp>
        <p:nvSpPr>
          <p:cNvPr id="16" name="Text 13"/>
          <p:cNvSpPr txBox="1"/>
          <p:nvPr/>
        </p:nvSpPr>
        <p:spPr>
          <a:xfrm>
            <a:off x="8275320" y="4553712"/>
            <a:ext cx="3474720" cy="411480"/>
          </a:xfrm>
          <a:prstGeom prst="rect">
            <a:avLst/>
          </a:prstGeom>
          <a:noFill/>
          <a:ln/>
        </p:spPr>
        <p:txBody>
          <a:bodyPr wrap="square" lIns="0" tIns="0" rIns="0" bIns="0" rtlCol="0" anchor="t"/>
          <a:lstStyle/>
          <a:p>
            <a:pPr indent="0" marL="0">
              <a:buNone/>
            </a:pPr>
            <a:r>
              <a:rPr lang="en-US" sz="1700" b="1" dirty="0">
                <a:solidFill>
                  <a:srgbClr val="FFC24B"/>
                </a:solidFill>
                <a:latin typeface="Calibri" pitchFamily="34" charset="0"/>
                <a:ea typeface="Calibri" pitchFamily="34" charset="-122"/>
                <a:cs typeface="Calibri" pitchFamily="34" charset="-120"/>
              </a:rPr>
              <a:t>Classical optimizer tunes the angles</a:t>
            </a:r>
            <a:endParaRPr lang="en-US" sz="1700" dirty="0"/>
          </a:p>
        </p:txBody>
      </p:sp>
      <p:sp>
        <p:nvSpPr>
          <p:cNvPr id="17" name="Text 14"/>
          <p:cNvSpPr txBox="1"/>
          <p:nvPr/>
        </p:nvSpPr>
        <p:spPr>
          <a:xfrm>
            <a:off x="8275320" y="4983480"/>
            <a:ext cx="3474720" cy="1005840"/>
          </a:xfrm>
          <a:prstGeom prst="rect">
            <a:avLst/>
          </a:prstGeom>
          <a:noFill/>
          <a:ln/>
        </p:spPr>
        <p:txBody>
          <a:bodyPr wrap="square" lIns="0" tIns="0" rIns="0" bIns="0" rtlCol="0" anchor="t"/>
          <a:lstStyle/>
          <a:p>
            <a:pPr indent="0" marL="0">
              <a:buNone/>
            </a:pPr>
            <a:r>
              <a:rPr lang="en-US" sz="1400" dirty="0">
                <a:solidFill>
                  <a:srgbClr val="F3F0FF"/>
                </a:solidFill>
                <a:latin typeface="Calibri" pitchFamily="34" charset="0"/>
                <a:ea typeface="Calibri" pitchFamily="34" charset="-122"/>
                <a:cs typeface="Calibri" pitchFamily="34" charset="-120"/>
              </a:rPr>
              <a:t>Try, score, adjust, repeat until the cost stops dropping. The star on the map is the best spot.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The real test: 5 years of stock prices</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Bonus</a:t>
            </a:r>
            <a:endParaRPr lang="en-US" sz="1400" dirty="0"/>
          </a:p>
        </p:txBody>
      </p:sp>
      <p:graphicFrame>
        <p:nvGraphicFramePr>
          <p:cNvPr id="5" name="Chart 0" descr=""/>
          <p:cNvGraphicFramePr/>
          <p:nvPr/>
        </p:nvGraphicFramePr>
        <p:xfrm>
          <a:off x="457200" y="1280160"/>
          <a:ext cx="402336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5440680"/>
            <a:ext cx="4023360" cy="365760"/>
          </a:xfrm>
          <a:prstGeom prst="rect">
            <a:avLst/>
          </a:prstGeom>
          <a:noFill/>
          <a:ln/>
        </p:spPr>
        <p:txBody>
          <a:bodyPr wrap="square" lIns="0" tIns="0" rIns="0" bIns="0" rtlCol="0" anchor="t"/>
          <a:lstStyle/>
          <a:p>
            <a:pPr algn="ctr" indent="0" marL="0">
              <a:buNone/>
            </a:pPr>
            <a:r>
              <a:rPr lang="en-US" sz="1300" dirty="0">
                <a:solidFill>
                  <a:srgbClr val="A9A3D6"/>
                </a:solidFill>
                <a:latin typeface="Calibri" pitchFamily="34" charset="0"/>
                <a:ea typeface="Calibri" pitchFamily="34" charset="-122"/>
                <a:cs typeface="Calibri" pitchFamily="34" charset="-120"/>
              </a:rPr>
              <a:t>JNJ 40% · XOM 25% · AAPL 25% · GLD 10%</a:t>
            </a:r>
            <a:endParaRPr lang="en-US" sz="1300" dirty="0"/>
          </a:p>
        </p:txBody>
      </p:sp>
      <p:graphicFrame>
        <p:nvGraphicFramePr>
          <p:cNvPr id="7" name="Chart 1" descr=""/>
          <p:cNvGraphicFramePr/>
          <p:nvPr/>
        </p:nvGraphicFramePr>
        <p:xfrm>
          <a:off x="4754880" y="1280160"/>
          <a:ext cx="3840480" cy="44805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8869680" y="1325880"/>
            <a:ext cx="2834640" cy="4937760"/>
          </a:xfrm>
          <a:prstGeom prst="roundRect">
            <a:avLst>
              <a:gd name="adj" fmla="val 4839"/>
            </a:avLst>
          </a:prstGeom>
          <a:solidFill>
            <a:srgbClr val="221D52"/>
          </a:solidFill>
          <a:ln w="12700">
            <a:solidFill>
              <a:srgbClr val="221D52"/>
            </a:solidFill>
            <a:prstDash val="solid"/>
          </a:ln>
        </p:spPr>
      </p:sp>
      <p:sp>
        <p:nvSpPr>
          <p:cNvPr id="9" name="Text 5"/>
          <p:cNvSpPr txBox="1"/>
          <p:nvPr/>
        </p:nvSpPr>
        <p:spPr>
          <a:xfrm>
            <a:off x="9098280" y="1554480"/>
            <a:ext cx="2423160" cy="4572000"/>
          </a:xfrm>
          <a:prstGeom prst="rect">
            <a:avLst/>
          </a:prstGeom>
          <a:noFill/>
          <a:ln/>
        </p:spPr>
        <p:txBody>
          <a:bodyPr wrap="square" lIns="0" tIns="0" rIns="0" bIns="0" rtlCol="0" anchor="t"/>
          <a:lstStyle/>
          <a:p>
            <a:pPr indent="0" marL="0">
              <a:spcAft>
                <a:spcPts val="1400"/>
              </a:spcAft>
              <a:buNone/>
            </a:pPr>
            <a:r>
              <a:rPr lang="en-US" sz="1800" b="1" dirty="0">
                <a:solidFill>
                  <a:srgbClr val="FFC24B"/>
                </a:solidFill>
                <a:latin typeface="Calibri" pitchFamily="34" charset="0"/>
                <a:ea typeface="Calibri" pitchFamily="34" charset="-122"/>
                <a:cs typeface="Calibri" pitchFamily="34" charset="-120"/>
              </a:rPr>
              <a:t>Honest result</a:t>
            </a:r>
            <a:endParaRPr lang="en-US" sz="1800" dirty="0"/>
          </a:p>
          <a:p>
            <a:pPr indent="0" marL="0">
              <a:spcAft>
                <a:spcPts val="1400"/>
              </a:spcAft>
              <a:buNone/>
            </a:pPr>
            <a:r>
              <a:rPr lang="en-US" sz="1800" dirty="0">
                <a:solidFill>
                  <a:srgbClr val="F3F0FF"/>
                </a:solidFill>
                <a:latin typeface="Calibri" pitchFamily="34" charset="0"/>
                <a:ea typeface="Calibri" pitchFamily="34" charset="-122"/>
                <a:cs typeface="Calibri" pitchFamily="34" charset="-120"/>
              </a:rPr>
              <a:t>QAOA found the truly best pick in 16 of 16 quarters.</a:t>
            </a:r>
            <a:endParaRPr lang="en-US" sz="1800" dirty="0"/>
          </a:p>
          <a:p>
            <a:pPr indent="0" marL="0">
              <a:spcAft>
                <a:spcPts val="1400"/>
              </a:spcAft>
              <a:buNone/>
            </a:pPr>
            <a:r>
              <a:rPr lang="en-US" sz="1800" dirty="0">
                <a:solidFill>
                  <a:srgbClr val="F3F0FF"/>
                </a:solidFill>
                <a:latin typeface="Calibri" pitchFamily="34" charset="0"/>
                <a:ea typeface="Calibri" pitchFamily="34" charset="-122"/>
                <a:cs typeface="Calibri" pitchFamily="34" charset="-120"/>
              </a:rPr>
              <a:t>But plain equal weighting still won on risk-adjusted return.</a:t>
            </a:r>
            <a:endParaRPr lang="en-US" sz="1800" dirty="0"/>
          </a:p>
          <a:p>
            <a:pPr indent="0" marL="0">
              <a:spcAft>
                <a:spcPts val="1400"/>
              </a:spcAft>
              <a:buNone/>
            </a:pPr>
            <a:r>
              <a:rPr lang="en-US" sz="1800" dirty="0">
                <a:solidFill>
                  <a:srgbClr val="2EE6D6"/>
                </a:solidFill>
                <a:latin typeface="Calibri" pitchFamily="34" charset="0"/>
                <a:ea typeface="Calibri" pitchFamily="34" charset="-122"/>
                <a:cs typeface="Calibri" pitchFamily="34" charset="-120"/>
              </a:rPr>
              <a:t>Quantum pays off at hundreds of assets. At 8, it's practice.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Fixing errors with a majority vote</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9</a:t>
            </a:r>
            <a:endParaRPr lang="en-US" sz="1400" dirty="0"/>
          </a:p>
        </p:txBody>
      </p:sp>
      <p:pic>
        <p:nvPicPr>
          <p:cNvPr id="5" name="Image 0" descr="/private/tmp/claude-501/-Users-sama-teyha-repos-coding-dojo-schroedingers-depot/08894b76-43ad-40b2-8d8d-4e13e55cf558/scratchpad/deck/img/repair.png">    </p:cNvPr>
          <p:cNvPicPr>
            <a:picLocks noChangeAspect="1"/>
          </p:cNvPicPr>
          <p:nvPr/>
        </p:nvPicPr>
        <p:blipFill>
          <a:blip r:embed="rId1"/>
          <a:stretch>
            <a:fillRect/>
          </a:stretch>
        </p:blipFill>
        <p:spPr>
          <a:xfrm>
            <a:off x="457200" y="1371600"/>
            <a:ext cx="6675120" cy="2834640"/>
          </a:xfrm>
          <a:prstGeom prst="rect">
            <a:avLst/>
          </a:prstGeom>
        </p:spPr>
      </p:pic>
      <p:sp>
        <p:nvSpPr>
          <p:cNvPr id="6" name="Shape 3"/>
          <p:cNvSpPr/>
          <p:nvPr/>
        </p:nvSpPr>
        <p:spPr>
          <a:xfrm>
            <a:off x="548640" y="4480560"/>
            <a:ext cx="6583680" cy="1463040"/>
          </a:xfrm>
          <a:prstGeom prst="roundRect">
            <a:avLst>
              <a:gd name="adj" fmla="val 9375"/>
            </a:avLst>
          </a:prstGeom>
          <a:solidFill>
            <a:srgbClr val="221D52"/>
          </a:solidFill>
          <a:ln w="12700">
            <a:solidFill>
              <a:srgbClr val="221D52"/>
            </a:solidFill>
            <a:prstDash val="solid"/>
          </a:ln>
        </p:spPr>
      </p:sp>
      <p:sp>
        <p:nvSpPr>
          <p:cNvPr id="7" name="Text 4"/>
          <p:cNvSpPr txBox="1"/>
          <p:nvPr/>
        </p:nvSpPr>
        <p:spPr>
          <a:xfrm>
            <a:off x="822960" y="4663440"/>
            <a:ext cx="6035040" cy="1554480"/>
          </a:xfrm>
          <a:prstGeom prst="rect">
            <a:avLst/>
          </a:prstGeom>
          <a:noFill/>
          <a:ln/>
        </p:spPr>
        <p:txBody>
          <a:bodyPr wrap="square" lIns="0" tIns="0" rIns="0" bIns="0" rtlCol="0" anchor="t"/>
          <a:lstStyle/>
          <a:p>
            <a:pPr indent="0" marL="0">
              <a:buNone/>
            </a:pPr>
            <a:r>
              <a:rPr lang="en-US" sz="1600" b="1" dirty="0">
                <a:solidFill>
                  <a:srgbClr val="FF4FA3"/>
                </a:solidFill>
                <a:latin typeface="Calibri" pitchFamily="34" charset="0"/>
                <a:ea typeface="Calibri" pitchFamily="34" charset="-122"/>
                <a:cs typeface="Calibri" pitchFamily="34" charset="-120"/>
              </a:rPr>
              <a:t>The catch: </a:t>
            </a:r>
            <a:pPr indent="0" marL="0">
              <a:buNone/>
            </a:pPr>
            <a:r>
              <a:rPr lang="en-US" sz="1600" dirty="0">
                <a:solidFill>
                  <a:srgbClr val="F3F0FF"/>
                </a:solidFill>
                <a:latin typeface="Calibri" pitchFamily="34" charset="0"/>
                <a:ea typeface="Calibri" pitchFamily="34" charset="-122"/>
                <a:cs typeface="Calibri" pitchFamily="34" charset="-120"/>
              </a:rPr>
              <a:t>you can't copy a qubit or peek at it. So instead of copies we entangle it with 2 helpers (CX, CX). An error then shows up as disagreement, and a CCX gate flips the odd one out back.</a:t>
            </a:r>
            <a:endParaRPr lang="en-US" sz="1600" dirty="0"/>
          </a:p>
        </p:txBody>
      </p:sp>
      <p:sp>
        <p:nvSpPr>
          <p:cNvPr id="8" name="Text 5"/>
          <p:cNvSpPr txBox="1"/>
          <p:nvPr/>
        </p:nvSpPr>
        <p:spPr>
          <a:xfrm>
            <a:off x="7680960" y="1280160"/>
            <a:ext cx="4023360" cy="868680"/>
          </a:xfrm>
          <a:prstGeom prst="rect">
            <a:avLst/>
          </a:prstGeom>
          <a:noFill/>
          <a:ln/>
        </p:spPr>
        <p:txBody>
          <a:bodyPr wrap="square" lIns="0" tIns="0" rIns="0" bIns="0" rtlCol="0" anchor="b"/>
          <a:lstStyle/>
          <a:p>
            <a:pPr indent="0" marL="0">
              <a:buNone/>
            </a:pPr>
            <a:r>
              <a:rPr lang="en-US" sz="5400" b="1" dirty="0">
                <a:solidFill>
                  <a:srgbClr val="2EE6D6"/>
                </a:solidFill>
                <a:latin typeface="Cambria" pitchFamily="34" charset="0"/>
                <a:ea typeface="Cambria" pitchFamily="34" charset="-122"/>
                <a:cs typeface="Cambria" pitchFamily="34" charset="-120"/>
              </a:rPr>
              <a:t>20 / 80</a:t>
            </a:r>
            <a:endParaRPr lang="en-US" sz="5400" dirty="0"/>
          </a:p>
        </p:txBody>
      </p:sp>
      <p:sp>
        <p:nvSpPr>
          <p:cNvPr id="9" name="Text 6"/>
          <p:cNvSpPr txBox="1"/>
          <p:nvPr/>
        </p:nvSpPr>
        <p:spPr>
          <a:xfrm>
            <a:off x="7680960" y="2194560"/>
            <a:ext cx="402336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the precious blend before the error</a:t>
            </a:r>
            <a:endParaRPr lang="en-US" sz="1400" dirty="0"/>
          </a:p>
        </p:txBody>
      </p:sp>
      <p:sp>
        <p:nvSpPr>
          <p:cNvPr id="10" name="Text 7"/>
          <p:cNvSpPr txBox="1"/>
          <p:nvPr/>
        </p:nvSpPr>
        <p:spPr>
          <a:xfrm>
            <a:off x="7680960" y="2926080"/>
            <a:ext cx="4023360" cy="868680"/>
          </a:xfrm>
          <a:prstGeom prst="rect">
            <a:avLst/>
          </a:prstGeom>
          <a:noFill/>
          <a:ln/>
        </p:spPr>
        <p:txBody>
          <a:bodyPr wrap="square" lIns="0" tIns="0" rIns="0" bIns="0" rtlCol="0" anchor="b"/>
          <a:lstStyle/>
          <a:p>
            <a:pPr indent="0" marL="0">
              <a:buNone/>
            </a:pPr>
            <a:r>
              <a:rPr lang="en-US" sz="5400" b="1" dirty="0">
                <a:solidFill>
                  <a:srgbClr val="FFC24B"/>
                </a:solidFill>
                <a:latin typeface="Cambria" pitchFamily="34" charset="0"/>
                <a:ea typeface="Cambria" pitchFamily="34" charset="-122"/>
                <a:cs typeface="Cambria" pitchFamily="34" charset="-120"/>
              </a:rPr>
              <a:t>20 / 80</a:t>
            </a:r>
            <a:endParaRPr lang="en-US" sz="5400" dirty="0"/>
          </a:p>
        </p:txBody>
      </p:sp>
      <p:sp>
        <p:nvSpPr>
          <p:cNvPr id="11" name="Text 8"/>
          <p:cNvSpPr txBox="1"/>
          <p:nvPr/>
        </p:nvSpPr>
        <p:spPr>
          <a:xfrm>
            <a:off x="7680960" y="3840480"/>
            <a:ext cx="402336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after an error on qubit 0, 1 or 2, repaired</a:t>
            </a:r>
            <a:endParaRPr lang="en-US" sz="1400" dirty="0"/>
          </a:p>
        </p:txBody>
      </p:sp>
      <p:sp>
        <p:nvSpPr>
          <p:cNvPr id="12" name="Text 9"/>
          <p:cNvSpPr txBox="1"/>
          <p:nvPr/>
        </p:nvSpPr>
        <p:spPr>
          <a:xfrm>
            <a:off x="7680960" y="4572000"/>
            <a:ext cx="4023360" cy="868680"/>
          </a:xfrm>
          <a:prstGeom prst="rect">
            <a:avLst/>
          </a:prstGeom>
          <a:noFill/>
          <a:ln/>
        </p:spPr>
        <p:txBody>
          <a:bodyPr wrap="square" lIns="0" tIns="0" rIns="0" bIns="0" rtlCol="0" anchor="b"/>
          <a:lstStyle/>
          <a:p>
            <a:pPr indent="0" marL="0">
              <a:buNone/>
            </a:pPr>
            <a:r>
              <a:rPr lang="en-US" sz="5400" b="1" dirty="0">
                <a:solidFill>
                  <a:srgbClr val="FF4FA3"/>
                </a:solidFill>
                <a:latin typeface="Cambria" pitchFamily="34" charset="0"/>
                <a:ea typeface="Cambria" pitchFamily="34" charset="-122"/>
                <a:cs typeface="Cambria" pitchFamily="34" charset="-120"/>
              </a:rPr>
              <a:t>3 → 1</a:t>
            </a:r>
            <a:endParaRPr lang="en-US" sz="5400" dirty="0"/>
          </a:p>
        </p:txBody>
      </p:sp>
      <p:sp>
        <p:nvSpPr>
          <p:cNvPr id="13" name="Text 10"/>
          <p:cNvSpPr txBox="1"/>
          <p:nvPr/>
        </p:nvSpPr>
        <p:spPr>
          <a:xfrm>
            <a:off x="7680960" y="5486400"/>
            <a:ext cx="4023360" cy="548640"/>
          </a:xfrm>
          <a:prstGeom prst="rect">
            <a:avLst/>
          </a:prstGeom>
          <a:noFill/>
          <a:ln/>
        </p:spPr>
        <p:txBody>
          <a:bodyPr wrap="square" lIns="0" tIns="0" rIns="0" bIns="0" rtlCol="0" anchor="t"/>
          <a:lstStyle/>
          <a:p>
            <a:pPr indent="0" marL="0">
              <a:buNone/>
            </a:pPr>
            <a:r>
              <a:rPr lang="en-US" sz="1400" dirty="0">
                <a:solidFill>
                  <a:srgbClr val="A9A3D6"/>
                </a:solidFill>
                <a:latin typeface="Calibri" pitchFamily="34" charset="0"/>
                <a:ea typeface="Calibri" pitchFamily="34" charset="-122"/>
                <a:cs typeface="Calibri" pitchFamily="34" charset="-120"/>
              </a:rPr>
              <a:t>three physical qubits protect one logical qubit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Teleportation: moving a qubit with 2 bits</a:t>
            </a:r>
            <a:endParaRPr lang="en-US" sz="3600" dirty="0"/>
          </a:p>
        </p:txBody>
      </p:sp>
      <p:sp>
        <p:nvSpPr>
          <p:cNvPr id="3" name="Shape 1"/>
          <p:cNvSpPr/>
          <p:nvPr/>
        </p:nvSpPr>
        <p:spPr>
          <a:xfrm>
            <a:off x="9994392" y="502920"/>
            <a:ext cx="1645920" cy="502920"/>
          </a:xfrm>
          <a:prstGeom prst="roundRect">
            <a:avLst>
              <a:gd name="adj" fmla="val 49091"/>
            </a:avLst>
          </a:prstGeom>
          <a:solidFill>
            <a:srgbClr val="221D52"/>
          </a:solidFill>
          <a:ln w="15875">
            <a:solidFill>
              <a:srgbClr val="2EE6D6"/>
            </a:solidFill>
            <a:prstDash val="solid"/>
          </a:ln>
        </p:spPr>
      </p:sp>
      <p:sp>
        <p:nvSpPr>
          <p:cNvPr id="4" name="Text 2"/>
          <p:cNvSpPr txBox="1"/>
          <p:nvPr/>
        </p:nvSpPr>
        <p:spPr>
          <a:xfrm>
            <a:off x="9994392" y="502920"/>
            <a:ext cx="1645920" cy="502920"/>
          </a:xfrm>
          <a:prstGeom prst="rect">
            <a:avLst/>
          </a:prstGeom>
          <a:noFill/>
          <a:ln/>
        </p:spPr>
        <p:txBody>
          <a:bodyPr wrap="square" lIns="0" tIns="0" rIns="0" bIns="0" rtlCol="0" anchor="ctr"/>
          <a:lstStyle/>
          <a:p>
            <a:pPr algn="ctr" indent="0" marL="0">
              <a:buNone/>
            </a:pPr>
            <a:r>
              <a:rPr lang="en-US" sz="1400" b="1" dirty="0">
                <a:solidFill>
                  <a:srgbClr val="2EE6D6"/>
                </a:solidFill>
                <a:latin typeface="Calibri" pitchFamily="34" charset="0"/>
                <a:ea typeface="Calibri" pitchFamily="34" charset="-122"/>
                <a:cs typeface="Calibri" pitchFamily="34" charset="-120"/>
              </a:rPr>
              <a:t>Kata 10</a:t>
            </a:r>
            <a:endParaRPr lang="en-US" sz="1400" dirty="0"/>
          </a:p>
        </p:txBody>
      </p:sp>
      <p:pic>
        <p:nvPicPr>
          <p:cNvPr id="5" name="Image 0" descr="/private/tmp/claude-501/-Users-sama-teyha-repos-coding-dojo-schroedingers-depot/08894b76-43ad-40b2-8d8d-4e13e55cf558/scratchpad/deck/img/teleport.png">    </p:cNvPr>
          <p:cNvPicPr>
            <a:picLocks noChangeAspect="1"/>
          </p:cNvPicPr>
          <p:nvPr/>
        </p:nvPicPr>
        <p:blipFill>
          <a:blip r:embed="rId1"/>
          <a:stretch>
            <a:fillRect/>
          </a:stretch>
        </p:blipFill>
        <p:spPr>
          <a:xfrm>
            <a:off x="457200" y="1234440"/>
            <a:ext cx="6675120" cy="2670048"/>
          </a:xfrm>
          <a:prstGeom prst="rect">
            <a:avLst/>
          </a:prstGeom>
        </p:spPr>
      </p:pic>
      <p:pic>
        <p:nvPicPr>
          <p:cNvPr id="6" name="Image 1" descr="/private/tmp/claude-501/-Users-sama-teyha-repos-coding-dojo-schroedingers-depot/08894b76-43ad-40b2-8d8d-4e13e55cf558/scratchpad/deck/img/teleport_circuit.png">    </p:cNvPr>
          <p:cNvPicPr>
            <a:picLocks noChangeAspect="1"/>
          </p:cNvPicPr>
          <p:nvPr/>
        </p:nvPicPr>
        <p:blipFill>
          <a:blip r:embed="rId2"/>
          <a:stretch>
            <a:fillRect/>
          </a:stretch>
        </p:blipFill>
        <p:spPr>
          <a:xfrm>
            <a:off x="548640" y="4069080"/>
            <a:ext cx="6583680" cy="1801368"/>
          </a:xfrm>
          <a:prstGeom prst="rect">
            <a:avLst/>
          </a:prstGeom>
        </p:spPr>
      </p:pic>
      <p:sp>
        <p:nvSpPr>
          <p:cNvPr id="7" name="Text 3"/>
          <p:cNvSpPr txBox="1"/>
          <p:nvPr/>
        </p:nvSpPr>
        <p:spPr>
          <a:xfrm>
            <a:off x="548640" y="5943600"/>
            <a:ext cx="6583680" cy="365760"/>
          </a:xfrm>
          <a:prstGeom prst="rect">
            <a:avLst/>
          </a:prstGeom>
          <a:noFill/>
          <a:ln/>
        </p:spPr>
        <p:txBody>
          <a:bodyPr wrap="square" lIns="0" tIns="0" rIns="0" bIns="0" rtlCol="0" anchor="t"/>
          <a:lstStyle/>
          <a:p>
            <a:pPr algn="ctr" indent="0" marL="0">
              <a:buNone/>
            </a:pPr>
            <a:r>
              <a:rPr lang="en-US" sz="1300" dirty="0">
                <a:solidFill>
                  <a:srgbClr val="A9A3D6"/>
                </a:solidFill>
                <a:latin typeface="Calibri" pitchFamily="34" charset="0"/>
                <a:ea typeface="Calibri" pitchFamily="34" charset="-122"/>
                <a:cs typeface="Calibri" pitchFamily="34" charset="-120"/>
              </a:rPr>
              <a:t>message  ·  make Bell pair  ·  Alice mixes &amp; measures  ·  Bob fixes</a:t>
            </a:r>
            <a:endParaRPr lang="en-US" sz="1300" dirty="0"/>
          </a:p>
        </p:txBody>
      </p:sp>
      <p:graphicFrame>
        <p:nvGraphicFramePr>
          <p:cNvPr id="8" name="Chart 0" descr=""/>
          <p:cNvGraphicFramePr/>
          <p:nvPr/>
        </p:nvGraphicFramePr>
        <p:xfrm>
          <a:off x="7406640" y="1280160"/>
          <a:ext cx="4297680" cy="393192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7406640" y="5394960"/>
            <a:ext cx="4297680" cy="731520"/>
          </a:xfrm>
          <a:prstGeom prst="rect">
            <a:avLst/>
          </a:prstGeom>
          <a:noFill/>
          <a:ln/>
        </p:spPr>
        <p:txBody>
          <a:bodyPr wrap="square" lIns="0" tIns="0" rIns="0" bIns="0" rtlCol="0" anchor="t"/>
          <a:lstStyle/>
          <a:p>
            <a:pPr algn="ctr" indent="0" marL="0">
              <a:buNone/>
            </a:pPr>
            <a:r>
              <a:rPr lang="en-US" sz="1400" i="1" dirty="0">
                <a:solidFill>
                  <a:srgbClr val="A9A3D6"/>
                </a:solidFill>
                <a:latin typeface="Calibri" pitchFamily="34" charset="0"/>
                <a:ea typeface="Calibri" pitchFamily="34" charset="-122"/>
                <a:cs typeface="Calibri" pitchFamily="34" charset="-120"/>
              </a:rPr>
              <a:t>Nothing travels faster than light: Bob needs Alice's 2 bits.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9326880" cy="822960"/>
          </a:xfrm>
          <a:prstGeom prst="rect">
            <a:avLst/>
          </a:prstGeom>
          <a:noFill/>
          <a:ln/>
        </p:spPr>
        <p:txBody>
          <a:bodyPr wrap="square" lIns="0" tIns="0" rIns="0" bIns="0" rtlCol="0" anchor="ctr"/>
          <a:lstStyle/>
          <a:p>
            <a:pPr indent="0" marL="0">
              <a:buNone/>
            </a:pPr>
            <a:r>
              <a:rPr lang="en-US" sz="3600" b="1" dirty="0">
                <a:solidFill>
                  <a:srgbClr val="F3F0FF"/>
                </a:solidFill>
                <a:latin typeface="Cambria" pitchFamily="34" charset="0"/>
                <a:ea typeface="Cambria" pitchFamily="34" charset="-122"/>
                <a:cs typeface="Cambria" pitchFamily="34" charset="-120"/>
              </a:rPr>
              <a:t>Six ideas that carry everything</a:t>
            </a:r>
            <a:endParaRPr lang="en-US" sz="3600" dirty="0"/>
          </a:p>
        </p:txBody>
      </p:sp>
      <p:sp>
        <p:nvSpPr>
          <p:cNvPr id="3" name="Shape 1"/>
          <p:cNvSpPr/>
          <p:nvPr/>
        </p:nvSpPr>
        <p:spPr>
          <a:xfrm>
            <a:off x="548640" y="1417320"/>
            <a:ext cx="3520440" cy="2240280"/>
          </a:xfrm>
          <a:prstGeom prst="roundRect">
            <a:avLst>
              <a:gd name="adj" fmla="val 6122"/>
            </a:avLst>
          </a:prstGeom>
          <a:solidFill>
            <a:srgbClr val="221D52"/>
          </a:solidFill>
          <a:ln w="12700">
            <a:solidFill>
              <a:srgbClr val="221D52"/>
            </a:solidFill>
            <a:prstDash val="solid"/>
          </a:ln>
        </p:spPr>
      </p:sp>
      <p:sp>
        <p:nvSpPr>
          <p:cNvPr id="4" name="Shape 2"/>
          <p:cNvSpPr/>
          <p:nvPr/>
        </p:nvSpPr>
        <p:spPr>
          <a:xfrm>
            <a:off x="822960" y="1691640"/>
            <a:ext cx="502920" cy="502920"/>
          </a:xfrm>
          <a:prstGeom prst="ellipse">
            <a:avLst/>
          </a:prstGeom>
          <a:solidFill>
            <a:srgbClr val="2EE6D6"/>
          </a:solidFill>
          <a:ln w="12700">
            <a:solidFill>
              <a:srgbClr val="2EE6D6"/>
            </a:solidFill>
            <a:prstDash val="solid"/>
          </a:ln>
        </p:spPr>
      </p:sp>
      <p:sp>
        <p:nvSpPr>
          <p:cNvPr id="5" name="Text 3"/>
          <p:cNvSpPr txBox="1"/>
          <p:nvPr/>
        </p:nvSpPr>
        <p:spPr>
          <a:xfrm>
            <a:off x="822960" y="16916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691640"/>
            <a:ext cx="2377440" cy="502920"/>
          </a:xfrm>
          <a:prstGeom prst="rect">
            <a:avLst/>
          </a:prstGeom>
          <a:noFill/>
          <a:ln/>
        </p:spPr>
        <p:txBody>
          <a:bodyPr wrap="square" lIns="0" tIns="0" rIns="0" bIns="0" rtlCol="0" anchor="ctr"/>
          <a:lstStyle/>
          <a:p>
            <a:pPr indent="0" marL="0">
              <a:buNone/>
            </a:pPr>
            <a:r>
              <a:rPr lang="en-US" sz="2000" b="1" dirty="0">
                <a:solidFill>
                  <a:srgbClr val="2EE6D6"/>
                </a:solidFill>
                <a:latin typeface="Cambria" pitchFamily="34" charset="0"/>
                <a:ea typeface="Cambria" pitchFamily="34" charset="-122"/>
                <a:cs typeface="Cambria" pitchFamily="34" charset="-120"/>
              </a:rPr>
              <a:t>Superposition</a:t>
            </a:r>
            <a:endParaRPr lang="en-US" sz="2000" dirty="0"/>
          </a:p>
        </p:txBody>
      </p:sp>
      <p:sp>
        <p:nvSpPr>
          <p:cNvPr id="7" name="Text 5"/>
          <p:cNvSpPr txBox="1"/>
          <p:nvPr/>
        </p:nvSpPr>
        <p:spPr>
          <a:xfrm>
            <a:off x="822960" y="24231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A qubit is a blend of 0 and 1 until you look.</a:t>
            </a:r>
            <a:endParaRPr lang="en-US" sz="1600" dirty="0"/>
          </a:p>
        </p:txBody>
      </p:sp>
      <p:sp>
        <p:nvSpPr>
          <p:cNvPr id="8" name="Shape 6"/>
          <p:cNvSpPr/>
          <p:nvPr/>
        </p:nvSpPr>
        <p:spPr>
          <a:xfrm>
            <a:off x="4343400" y="1417320"/>
            <a:ext cx="3520440" cy="2240280"/>
          </a:xfrm>
          <a:prstGeom prst="roundRect">
            <a:avLst>
              <a:gd name="adj" fmla="val 6122"/>
            </a:avLst>
          </a:prstGeom>
          <a:solidFill>
            <a:srgbClr val="221D52"/>
          </a:solidFill>
          <a:ln w="12700">
            <a:solidFill>
              <a:srgbClr val="221D52"/>
            </a:solidFill>
            <a:prstDash val="solid"/>
          </a:ln>
        </p:spPr>
      </p:sp>
      <p:sp>
        <p:nvSpPr>
          <p:cNvPr id="9" name="Shape 7"/>
          <p:cNvSpPr/>
          <p:nvPr/>
        </p:nvSpPr>
        <p:spPr>
          <a:xfrm>
            <a:off x="4617720" y="1691640"/>
            <a:ext cx="502920" cy="502920"/>
          </a:xfrm>
          <a:prstGeom prst="ellipse">
            <a:avLst/>
          </a:prstGeom>
          <a:solidFill>
            <a:srgbClr val="FFC24B"/>
          </a:solidFill>
          <a:ln w="12700">
            <a:solidFill>
              <a:srgbClr val="FFC24B"/>
            </a:solidFill>
            <a:prstDash val="solid"/>
          </a:ln>
        </p:spPr>
      </p:sp>
      <p:sp>
        <p:nvSpPr>
          <p:cNvPr id="10" name="Text 8"/>
          <p:cNvSpPr txBox="1"/>
          <p:nvPr/>
        </p:nvSpPr>
        <p:spPr>
          <a:xfrm>
            <a:off x="4617720" y="16916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5303520" y="1691640"/>
            <a:ext cx="2377440" cy="502920"/>
          </a:xfrm>
          <a:prstGeom prst="rect">
            <a:avLst/>
          </a:prstGeom>
          <a:noFill/>
          <a:ln/>
        </p:spPr>
        <p:txBody>
          <a:bodyPr wrap="square" lIns="0" tIns="0" rIns="0" bIns="0" rtlCol="0" anchor="ctr"/>
          <a:lstStyle/>
          <a:p>
            <a:pPr indent="0" marL="0">
              <a:buNone/>
            </a:pPr>
            <a:r>
              <a:rPr lang="en-US" sz="2000" b="1" dirty="0">
                <a:solidFill>
                  <a:srgbClr val="FFC24B"/>
                </a:solidFill>
                <a:latin typeface="Cambria" pitchFamily="34" charset="0"/>
                <a:ea typeface="Cambria" pitchFamily="34" charset="-122"/>
                <a:cs typeface="Cambria" pitchFamily="34" charset="-120"/>
              </a:rPr>
              <a:t>Interference</a:t>
            </a:r>
            <a:endParaRPr lang="en-US" sz="2000" dirty="0"/>
          </a:p>
        </p:txBody>
      </p:sp>
      <p:sp>
        <p:nvSpPr>
          <p:cNvPr id="12" name="Text 10"/>
          <p:cNvSpPr txBox="1"/>
          <p:nvPr/>
        </p:nvSpPr>
        <p:spPr>
          <a:xfrm>
            <a:off x="4617720" y="24231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Hidden signs make wrong answers cancel and right ones grow.</a:t>
            </a:r>
            <a:endParaRPr lang="en-US" sz="1600" dirty="0"/>
          </a:p>
        </p:txBody>
      </p:sp>
      <p:sp>
        <p:nvSpPr>
          <p:cNvPr id="13" name="Shape 11"/>
          <p:cNvSpPr/>
          <p:nvPr/>
        </p:nvSpPr>
        <p:spPr>
          <a:xfrm>
            <a:off x="8138160" y="1417320"/>
            <a:ext cx="3520440" cy="2240280"/>
          </a:xfrm>
          <a:prstGeom prst="roundRect">
            <a:avLst>
              <a:gd name="adj" fmla="val 6122"/>
            </a:avLst>
          </a:prstGeom>
          <a:solidFill>
            <a:srgbClr val="221D52"/>
          </a:solidFill>
          <a:ln w="12700">
            <a:solidFill>
              <a:srgbClr val="221D52"/>
            </a:solidFill>
            <a:prstDash val="solid"/>
          </a:ln>
        </p:spPr>
      </p:sp>
      <p:sp>
        <p:nvSpPr>
          <p:cNvPr id="14" name="Shape 12"/>
          <p:cNvSpPr/>
          <p:nvPr/>
        </p:nvSpPr>
        <p:spPr>
          <a:xfrm>
            <a:off x="8412480" y="1691640"/>
            <a:ext cx="502920" cy="502920"/>
          </a:xfrm>
          <a:prstGeom prst="ellipse">
            <a:avLst/>
          </a:prstGeom>
          <a:solidFill>
            <a:srgbClr val="FF4FA3"/>
          </a:solidFill>
          <a:ln w="12700">
            <a:solidFill>
              <a:srgbClr val="FF4FA3"/>
            </a:solidFill>
            <a:prstDash val="solid"/>
          </a:ln>
        </p:spPr>
      </p:sp>
      <p:sp>
        <p:nvSpPr>
          <p:cNvPr id="15" name="Text 13"/>
          <p:cNvSpPr txBox="1"/>
          <p:nvPr/>
        </p:nvSpPr>
        <p:spPr>
          <a:xfrm>
            <a:off x="8412480" y="16916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9098280" y="1691640"/>
            <a:ext cx="2377440" cy="502920"/>
          </a:xfrm>
          <a:prstGeom prst="rect">
            <a:avLst/>
          </a:prstGeom>
          <a:noFill/>
          <a:ln/>
        </p:spPr>
        <p:txBody>
          <a:bodyPr wrap="square" lIns="0" tIns="0" rIns="0" bIns="0" rtlCol="0" anchor="ctr"/>
          <a:lstStyle/>
          <a:p>
            <a:pPr indent="0" marL="0">
              <a:buNone/>
            </a:pPr>
            <a:r>
              <a:rPr lang="en-US" sz="2000" b="1" dirty="0">
                <a:solidFill>
                  <a:srgbClr val="FF4FA3"/>
                </a:solidFill>
                <a:latin typeface="Cambria" pitchFamily="34" charset="0"/>
                <a:ea typeface="Cambria" pitchFamily="34" charset="-122"/>
                <a:cs typeface="Cambria" pitchFamily="34" charset="-120"/>
              </a:rPr>
              <a:t>Entanglement</a:t>
            </a:r>
            <a:endParaRPr lang="en-US" sz="2000" dirty="0"/>
          </a:p>
        </p:txBody>
      </p:sp>
      <p:sp>
        <p:nvSpPr>
          <p:cNvPr id="17" name="Text 15"/>
          <p:cNvSpPr txBox="1"/>
          <p:nvPr/>
        </p:nvSpPr>
        <p:spPr>
          <a:xfrm>
            <a:off x="8412480" y="24231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Linked qubits give linked answers.</a:t>
            </a:r>
            <a:endParaRPr lang="en-US" sz="1600" dirty="0"/>
          </a:p>
        </p:txBody>
      </p:sp>
      <p:sp>
        <p:nvSpPr>
          <p:cNvPr id="18" name="Shape 16"/>
          <p:cNvSpPr/>
          <p:nvPr/>
        </p:nvSpPr>
        <p:spPr>
          <a:xfrm>
            <a:off x="548640" y="3931920"/>
            <a:ext cx="3520440" cy="2240280"/>
          </a:xfrm>
          <a:prstGeom prst="roundRect">
            <a:avLst>
              <a:gd name="adj" fmla="val 6122"/>
            </a:avLst>
          </a:prstGeom>
          <a:solidFill>
            <a:srgbClr val="221D52"/>
          </a:solidFill>
          <a:ln w="12700">
            <a:solidFill>
              <a:srgbClr val="221D52"/>
            </a:solidFill>
            <a:prstDash val="solid"/>
          </a:ln>
        </p:spPr>
      </p:sp>
      <p:sp>
        <p:nvSpPr>
          <p:cNvPr id="19" name="Shape 17"/>
          <p:cNvSpPr/>
          <p:nvPr/>
        </p:nvSpPr>
        <p:spPr>
          <a:xfrm>
            <a:off x="822960" y="4206240"/>
            <a:ext cx="502920" cy="502920"/>
          </a:xfrm>
          <a:prstGeom prst="ellipse">
            <a:avLst/>
          </a:prstGeom>
          <a:solidFill>
            <a:srgbClr val="9B8CFF"/>
          </a:solidFill>
          <a:ln w="12700">
            <a:solidFill>
              <a:srgbClr val="9B8CFF"/>
            </a:solidFill>
            <a:prstDash val="solid"/>
          </a:ln>
        </p:spPr>
      </p:sp>
      <p:sp>
        <p:nvSpPr>
          <p:cNvPr id="20" name="Text 18"/>
          <p:cNvSpPr txBox="1"/>
          <p:nvPr/>
        </p:nvSpPr>
        <p:spPr>
          <a:xfrm>
            <a:off x="822960" y="42062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508760" y="4206240"/>
            <a:ext cx="2377440" cy="502920"/>
          </a:xfrm>
          <a:prstGeom prst="rect">
            <a:avLst/>
          </a:prstGeom>
          <a:noFill/>
          <a:ln/>
        </p:spPr>
        <p:txBody>
          <a:bodyPr wrap="square" lIns="0" tIns="0" rIns="0" bIns="0" rtlCol="0" anchor="ctr"/>
          <a:lstStyle/>
          <a:p>
            <a:pPr indent="0" marL="0">
              <a:buNone/>
            </a:pPr>
            <a:r>
              <a:rPr lang="en-US" sz="2000" b="1" dirty="0">
                <a:solidFill>
                  <a:srgbClr val="9B8CFF"/>
                </a:solidFill>
                <a:latin typeface="Cambria" pitchFamily="34" charset="0"/>
                <a:ea typeface="Cambria" pitchFamily="34" charset="-122"/>
                <a:cs typeface="Cambria" pitchFamily="34" charset="-120"/>
              </a:rPr>
              <a:t>Noise</a:t>
            </a:r>
            <a:endParaRPr lang="en-US" sz="2000" dirty="0"/>
          </a:p>
        </p:txBody>
      </p:sp>
      <p:sp>
        <p:nvSpPr>
          <p:cNvPr id="22" name="Text 20"/>
          <p:cNvSpPr txBox="1"/>
          <p:nvPr/>
        </p:nvSpPr>
        <p:spPr>
          <a:xfrm>
            <a:off x="822960" y="49377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Real chips make small errors; more gates, more errors.</a:t>
            </a:r>
            <a:endParaRPr lang="en-US" sz="1600" dirty="0"/>
          </a:p>
        </p:txBody>
      </p:sp>
      <p:sp>
        <p:nvSpPr>
          <p:cNvPr id="23" name="Shape 21"/>
          <p:cNvSpPr/>
          <p:nvPr/>
        </p:nvSpPr>
        <p:spPr>
          <a:xfrm>
            <a:off x="4343400" y="3931920"/>
            <a:ext cx="3520440" cy="2240280"/>
          </a:xfrm>
          <a:prstGeom prst="roundRect">
            <a:avLst>
              <a:gd name="adj" fmla="val 6122"/>
            </a:avLst>
          </a:prstGeom>
          <a:solidFill>
            <a:srgbClr val="221D52"/>
          </a:solidFill>
          <a:ln w="12700">
            <a:solidFill>
              <a:srgbClr val="221D52"/>
            </a:solidFill>
            <a:prstDash val="solid"/>
          </a:ln>
        </p:spPr>
      </p:sp>
      <p:sp>
        <p:nvSpPr>
          <p:cNvPr id="24" name="Shape 22"/>
          <p:cNvSpPr/>
          <p:nvPr/>
        </p:nvSpPr>
        <p:spPr>
          <a:xfrm>
            <a:off x="4617720" y="4206240"/>
            <a:ext cx="502920" cy="502920"/>
          </a:xfrm>
          <a:prstGeom prst="ellipse">
            <a:avLst/>
          </a:prstGeom>
          <a:solidFill>
            <a:srgbClr val="2EE6D6"/>
          </a:solidFill>
          <a:ln w="12700">
            <a:solidFill>
              <a:srgbClr val="2EE6D6"/>
            </a:solidFill>
            <a:prstDash val="solid"/>
          </a:ln>
        </p:spPr>
      </p:sp>
      <p:sp>
        <p:nvSpPr>
          <p:cNvPr id="25" name="Text 23"/>
          <p:cNvSpPr txBox="1"/>
          <p:nvPr/>
        </p:nvSpPr>
        <p:spPr>
          <a:xfrm>
            <a:off x="4617720" y="42062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5303520" y="4206240"/>
            <a:ext cx="2377440" cy="502920"/>
          </a:xfrm>
          <a:prstGeom prst="rect">
            <a:avLst/>
          </a:prstGeom>
          <a:noFill/>
          <a:ln/>
        </p:spPr>
        <p:txBody>
          <a:bodyPr wrap="square" lIns="0" tIns="0" rIns="0" bIns="0" rtlCol="0" anchor="ctr"/>
          <a:lstStyle/>
          <a:p>
            <a:pPr indent="0" marL="0">
              <a:buNone/>
            </a:pPr>
            <a:r>
              <a:rPr lang="en-US" sz="2000" b="1" dirty="0">
                <a:solidFill>
                  <a:srgbClr val="2EE6D6"/>
                </a:solidFill>
                <a:latin typeface="Cambria" pitchFamily="34" charset="0"/>
                <a:ea typeface="Cambria" pitchFamily="34" charset="-122"/>
                <a:cs typeface="Cambria" pitchFamily="34" charset="-120"/>
              </a:rPr>
              <a:t>Teamwork</a:t>
            </a:r>
            <a:endParaRPr lang="en-US" sz="2000" dirty="0"/>
          </a:p>
        </p:txBody>
      </p:sp>
      <p:sp>
        <p:nvSpPr>
          <p:cNvPr id="27" name="Text 25"/>
          <p:cNvSpPr txBox="1"/>
          <p:nvPr/>
        </p:nvSpPr>
        <p:spPr>
          <a:xfrm>
            <a:off x="4617720" y="49377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Quantum scores, classical steers (QAOA).</a:t>
            </a:r>
            <a:endParaRPr lang="en-US" sz="1600" dirty="0"/>
          </a:p>
        </p:txBody>
      </p:sp>
      <p:sp>
        <p:nvSpPr>
          <p:cNvPr id="28" name="Shape 26"/>
          <p:cNvSpPr/>
          <p:nvPr/>
        </p:nvSpPr>
        <p:spPr>
          <a:xfrm>
            <a:off x="8138160" y="3931920"/>
            <a:ext cx="3520440" cy="2240280"/>
          </a:xfrm>
          <a:prstGeom prst="roundRect">
            <a:avLst>
              <a:gd name="adj" fmla="val 6122"/>
            </a:avLst>
          </a:prstGeom>
          <a:solidFill>
            <a:srgbClr val="221D52"/>
          </a:solidFill>
          <a:ln w="12700">
            <a:solidFill>
              <a:srgbClr val="221D52"/>
            </a:solidFill>
            <a:prstDash val="solid"/>
          </a:ln>
        </p:spPr>
      </p:sp>
      <p:sp>
        <p:nvSpPr>
          <p:cNvPr id="29" name="Shape 27"/>
          <p:cNvSpPr/>
          <p:nvPr/>
        </p:nvSpPr>
        <p:spPr>
          <a:xfrm>
            <a:off x="8412480" y="4206240"/>
            <a:ext cx="502920" cy="502920"/>
          </a:xfrm>
          <a:prstGeom prst="ellipse">
            <a:avLst/>
          </a:prstGeom>
          <a:solidFill>
            <a:srgbClr val="FFC24B"/>
          </a:solidFill>
          <a:ln w="12700">
            <a:solidFill>
              <a:srgbClr val="FFC24B"/>
            </a:solidFill>
            <a:prstDash val="solid"/>
          </a:ln>
        </p:spPr>
      </p:sp>
      <p:sp>
        <p:nvSpPr>
          <p:cNvPr id="30" name="Text 28"/>
          <p:cNvSpPr txBox="1"/>
          <p:nvPr/>
        </p:nvSpPr>
        <p:spPr>
          <a:xfrm>
            <a:off x="8412480" y="4206240"/>
            <a:ext cx="502920" cy="502920"/>
          </a:xfrm>
          <a:prstGeom prst="rect">
            <a:avLst/>
          </a:prstGeom>
          <a:noFill/>
          <a:ln/>
        </p:spPr>
        <p:txBody>
          <a:bodyPr wrap="square" lIns="0" tIns="0" rIns="0" bIns="0" rtlCol="0" anchor="ctr"/>
          <a:lstStyle/>
          <a:p>
            <a:pPr algn="ctr" indent="0" marL="0">
              <a:buNone/>
            </a:pPr>
            <a:r>
              <a:rPr lang="en-US" sz="1800" b="1" dirty="0">
                <a:solidFill>
                  <a:srgbClr val="120E2E"/>
                </a:solidFill>
                <a:latin typeface="Calibri" pitchFamily="34" charset="0"/>
                <a:ea typeface="Calibri" pitchFamily="34" charset="-122"/>
                <a:cs typeface="Calibri" pitchFamily="34" charset="-120"/>
              </a:rPr>
              <a:t>6</a:t>
            </a:r>
            <a:endParaRPr lang="en-US" sz="1800" dirty="0"/>
          </a:p>
        </p:txBody>
      </p:sp>
      <p:sp>
        <p:nvSpPr>
          <p:cNvPr id="31" name="Text 29"/>
          <p:cNvSpPr txBox="1"/>
          <p:nvPr/>
        </p:nvSpPr>
        <p:spPr>
          <a:xfrm>
            <a:off x="9098280" y="4206240"/>
            <a:ext cx="2377440" cy="502920"/>
          </a:xfrm>
          <a:prstGeom prst="rect">
            <a:avLst/>
          </a:prstGeom>
          <a:noFill/>
          <a:ln/>
        </p:spPr>
        <p:txBody>
          <a:bodyPr wrap="square" lIns="0" tIns="0" rIns="0" bIns="0" rtlCol="0" anchor="ctr"/>
          <a:lstStyle/>
          <a:p>
            <a:pPr indent="0" marL="0">
              <a:buNone/>
            </a:pPr>
            <a:r>
              <a:rPr lang="en-US" sz="2000" b="1" dirty="0">
                <a:solidFill>
                  <a:srgbClr val="FFC24B"/>
                </a:solidFill>
                <a:latin typeface="Cambria" pitchFamily="34" charset="0"/>
                <a:ea typeface="Cambria" pitchFamily="34" charset="-122"/>
                <a:cs typeface="Cambria" pitchFamily="34" charset="-120"/>
              </a:rPr>
              <a:t>Repair</a:t>
            </a:r>
            <a:endParaRPr lang="en-US" sz="2000" dirty="0"/>
          </a:p>
        </p:txBody>
      </p:sp>
      <p:sp>
        <p:nvSpPr>
          <p:cNvPr id="32" name="Text 30"/>
          <p:cNvSpPr txBox="1"/>
          <p:nvPr/>
        </p:nvSpPr>
        <p:spPr>
          <a:xfrm>
            <a:off x="8412480" y="4937760"/>
            <a:ext cx="3017520" cy="1097280"/>
          </a:xfrm>
          <a:prstGeom prst="rect">
            <a:avLst/>
          </a:prstGeom>
          <a:noFill/>
          <a:ln/>
        </p:spPr>
        <p:txBody>
          <a:bodyPr wrap="square" lIns="0" tIns="0" rIns="0" bIns="0" rtlCol="0" anchor="t"/>
          <a:lstStyle/>
          <a:p>
            <a:pPr indent="0" marL="0">
              <a:buNone/>
            </a:pPr>
            <a:r>
              <a:rPr lang="en-US" sz="1600" dirty="0">
                <a:solidFill>
                  <a:srgbClr val="F3F0FF"/>
                </a:solidFill>
                <a:latin typeface="Calibri" pitchFamily="34" charset="0"/>
                <a:ea typeface="Calibri" pitchFamily="34" charset="-122"/>
                <a:cs typeface="Calibri" pitchFamily="34" charset="-120"/>
              </a:rPr>
              <a:t>Spread one qubit over several and vote.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ivate/tmp/claude-501/-Users-sama-teyha-repos-coding-dojo-schroedingers-depot/08894b76-43ad-40b2-8d8d-4e13e55cf558/scratchpad/deck/img/hero.png">    </p:cNvPr>
          <p:cNvPicPr>
            <a:picLocks noChangeAspect="1"/>
          </p:cNvPicPr>
          <p:nvPr/>
        </p:nvPicPr>
        <p:blipFill>
          <a:blip r:embed="rId1"/>
          <a:stretch>
            <a:fillRect/>
          </a:stretch>
        </p:blipFill>
        <p:spPr>
          <a:xfrm>
            <a:off x="7589520" y="1463040"/>
            <a:ext cx="3931920" cy="3931920"/>
          </a:xfrm>
          <a:prstGeom prst="rect">
            <a:avLst/>
          </a:prstGeom>
        </p:spPr>
      </p:pic>
      <p:sp>
        <p:nvSpPr>
          <p:cNvPr id="3" name="Text 0"/>
          <p:cNvSpPr txBox="1"/>
          <p:nvPr/>
        </p:nvSpPr>
        <p:spPr>
          <a:xfrm>
            <a:off x="640080" y="1371600"/>
            <a:ext cx="6675120" cy="1463040"/>
          </a:xfrm>
          <a:prstGeom prst="rect">
            <a:avLst/>
          </a:prstGeom>
          <a:noFill/>
          <a:ln/>
        </p:spPr>
        <p:txBody>
          <a:bodyPr wrap="square" lIns="0" tIns="0" rIns="0" bIns="0" rtlCol="0" anchor="ctr"/>
          <a:lstStyle/>
          <a:p>
            <a:pPr indent="0" marL="0">
              <a:buNone/>
            </a:pPr>
            <a:r>
              <a:rPr lang="en-US" sz="4000" b="1" dirty="0">
                <a:solidFill>
                  <a:srgbClr val="F3F0FF"/>
                </a:solidFill>
                <a:latin typeface="Cambria" pitchFamily="34" charset="0"/>
                <a:ea typeface="Cambria" pitchFamily="34" charset="-122"/>
                <a:cs typeface="Cambria" pitchFamily="34" charset="-120"/>
              </a:rPr>
              <a:t>You don't need to understand it all yet.</a:t>
            </a:r>
            <a:endParaRPr lang="en-US" sz="4000" dirty="0"/>
          </a:p>
        </p:txBody>
      </p:sp>
      <p:sp>
        <p:nvSpPr>
          <p:cNvPr id="4" name="Text 1"/>
          <p:cNvSpPr txBox="1"/>
          <p:nvPr/>
        </p:nvSpPr>
        <p:spPr>
          <a:xfrm>
            <a:off x="640080" y="3017520"/>
            <a:ext cx="6400800" cy="1188720"/>
          </a:xfrm>
          <a:prstGeom prst="rect">
            <a:avLst/>
          </a:prstGeom>
          <a:noFill/>
          <a:ln/>
        </p:spPr>
        <p:txBody>
          <a:bodyPr wrap="square" lIns="0" tIns="0" rIns="0" bIns="0" rtlCol="0" anchor="t"/>
          <a:lstStyle/>
          <a:p>
            <a:pPr indent="0" marL="0">
              <a:buNone/>
            </a:pPr>
            <a:r>
              <a:rPr lang="en-US" sz="1800" dirty="0">
                <a:solidFill>
                  <a:srgbClr val="A9A3D6"/>
                </a:solidFill>
                <a:latin typeface="Calibri" pitchFamily="34" charset="0"/>
                <a:ea typeface="Calibri" pitchFamily="34" charset="-122"/>
                <a:cs typeface="Calibri" pitchFamily="34" charset="-120"/>
              </a:rPr>
              <a:t>Physicists spent decades on this. In 10 katas I built circuits that search, compete with stock strategies, repair errors and teleport.</a:t>
            </a:r>
            <a:endParaRPr lang="en-US" sz="1800" dirty="0"/>
          </a:p>
        </p:txBody>
      </p:sp>
      <p:sp>
        <p:nvSpPr>
          <p:cNvPr id="5" name="Text 2"/>
          <p:cNvSpPr txBox="1"/>
          <p:nvPr/>
        </p:nvSpPr>
        <p:spPr>
          <a:xfrm>
            <a:off x="640080" y="4480560"/>
            <a:ext cx="6400800" cy="914400"/>
          </a:xfrm>
          <a:prstGeom prst="rect">
            <a:avLst/>
          </a:prstGeom>
          <a:noFill/>
          <a:ln/>
        </p:spPr>
        <p:txBody>
          <a:bodyPr wrap="square" lIns="0" tIns="0" rIns="0" bIns="0" rtlCol="0" anchor="t"/>
          <a:lstStyle/>
          <a:p>
            <a:pPr indent="0" marL="0">
              <a:buNone/>
            </a:pPr>
            <a:r>
              <a:rPr lang="en-US" sz="1800" b="1" dirty="0">
                <a:solidFill>
                  <a:srgbClr val="FFC24B"/>
                </a:solidFill>
                <a:latin typeface="Calibri" pitchFamily="34" charset="0"/>
                <a:ea typeface="Calibri" pitchFamily="34" charset="-122"/>
                <a:cs typeface="Calibri" pitchFamily="34" charset="-120"/>
              </a:rPr>
              <a:t>Next: </a:t>
            </a:r>
            <a:pPr indent="0" marL="0">
              <a:buNone/>
            </a:pPr>
            <a:r>
              <a:rPr lang="en-US" sz="1800" dirty="0">
                <a:solidFill>
                  <a:srgbClr val="F3F0FF"/>
                </a:solidFill>
                <a:latin typeface="Calibri" pitchFamily="34" charset="0"/>
                <a:ea typeface="Calibri" pitchFamily="34" charset="-122"/>
                <a:cs typeface="Calibri" pitchFamily="34" charset="-120"/>
              </a:rPr>
              <a:t>run a circuit on a real IBM quantum computer (free tier) and watch the noise for real.</a:t>
            </a:r>
            <a:endParaRPr lang="en-US" sz="1800" dirty="0"/>
          </a:p>
        </p:txBody>
      </p:sp>
      <p:sp>
        <p:nvSpPr>
          <p:cNvPr id="6" name="Text 3"/>
          <p:cNvSpPr txBox="1"/>
          <p:nvPr/>
        </p:nvSpPr>
        <p:spPr>
          <a:xfrm>
            <a:off x="640080" y="5989320"/>
            <a:ext cx="6400800" cy="365760"/>
          </a:xfrm>
          <a:prstGeom prst="rect">
            <a:avLst/>
          </a:prstGeom>
          <a:noFill/>
          <a:ln/>
        </p:spPr>
        <p:txBody>
          <a:bodyPr wrap="square" lIns="0" tIns="0" rIns="0" bIns="0" rtlCol="0" anchor="t"/>
          <a:lstStyle/>
          <a:p>
            <a:pPr indent="0" marL="0">
              <a:buNone/>
            </a:pPr>
            <a:r>
              <a:rPr lang="en-US" sz="1200" dirty="0">
                <a:solidFill>
                  <a:srgbClr val="A9A3D6"/>
                </a:solidFill>
                <a:latin typeface="Calibri" pitchFamily="34" charset="0"/>
                <a:ea typeface="Calibri" pitchFamily="34" charset="-122"/>
                <a:cs typeface="Calibri" pitchFamily="34" charset="-120"/>
              </a:rPr>
              <a:t>Educational project. Nothing here is investment advice.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Schrödinger's Depot: my quantum journey</dc:title>
  <dc:subject>PptxGenJS Presentation</dc:subject>
  <dc:creator>PptxGenJS</dc:creator>
  <cp:lastModifiedBy>PptxGenJS</cp:lastModifiedBy>
  <cp:revision>1</cp:revision>
  <dcterms:created xsi:type="dcterms:W3CDTF">2026-09-26T09:00:16Z</dcterms:created>
  <dcterms:modified xsi:type="dcterms:W3CDTF">2026-09-26T09:00:16Z</dcterms:modified>
</cp:coreProperties>
</file>